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will explain Quick Sort, a fast sorting algorithm that works by picking a pivot, partitioning the array around it, and repeating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arranges numbers from smallest to largest. It has three ideas. First, pick a pivot. Second, partition: smaller or equal values go to the left, larger values go to the right. Third, repeat the same process on the left and right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is a divide and conquer algorithm. Divide means partition around the pivot. Conquer means sort both sides recursively. Combine needs no work, because the array is sorted in place and the pivot is already at its final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input is 10, 7, 8, 9, 1, 5 and the pivot is 5, the last element. The loop checks each element. 10, 7, 8 and 9 are bigger than 5 so they are skipped. 1 is smaller, so i becomes 0 and 1 swaps with 10. Finally the pivot swaps into index 1. Now 5 is in its final position, with 1 on its left and 8, 9, 10, 7 on its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first partition, we call quickSort on the right part, from index 2 to 5. Pivot 7 is placed at index 2. Then pivot 8 at index 3. Then pivot 9 at index 4, and the array is fully sorted: 1, 5, 7, 8, 9, 10. The left part, a single element, stops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quickSort function. It receives the array and the low and high indices. If low is less than high, it takes the last element as the pivot, partitions the array, and gets pi, the pivot's final index. Then it calls itself for the left part, low to pi minus 1, and the right part, pi plus 1 to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partition step. The pivot is the last element. The variable i starts one position before low. For each j, if arr[j] is less than or equal to the pivot, i moves forward and arr[i] swaps with arr[j]. After the loop, the pivot swaps with arr[i plus 1], which is its final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and high mark the part being sorted. Pivot is the comparison value. I marks the end of the smaller group. J scans the array. Pi is the final position of the pivot. Main reads the input, prints the array before sorting, calls quickSort, and prints the sorted array. The condition low less than high stops the recursion.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sample input, n is 6 and the array is 10, 7, 8, 9, 1, 5. The first line of output is the original array. The second line is the sorted array: 1, 5, 7, 8, 9,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and average time are n log n. The worst case is n squared, when the pivot is always the smallest or largest element, for example on an already sorted array with the last element as pivot. Extra space is order log n on average for the recursion stack. Quick Sort is in place but it is not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is fast in practice, sorts in place and is cache friendly. Its limitations are the n squared worst case, it is not stable, and the recursion can go deep when the pivot choices are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revise: Quick Sort uses divide and conquer. Partition places the pivot in its final position. quickSort calls itself on both parts. Average time is n log n and worst is n squared. It is in place, uses only stack space, and is not stable.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p:bgPr>
    </p:bg>
    <p:spTree>
      <p:nvGrpSpPr>
        <p:cNvPr id="1" name=""/>
        <p:cNvGrpSpPr/>
        <p:nvPr/>
      </p:nvGrpSpPr>
      <p:grpSpPr>
        <a:xfrm>
          <a:off x="0" y="0"/>
          <a:ext cx="0" cy="0"/>
          <a:chOff x="0" y="0"/>
          <a:chExt cx="0" cy="0"/>
        </a:xfrm>
      </p:grpSpPr>
      <p:sp>
        <p:nvSpPr>
          <p:cNvPr id="2" name="Shape 0"/>
          <p:cNvSpPr/>
          <p:nvPr/>
        </p:nvSpPr>
        <p:spPr>
          <a:xfrm>
            <a:off x="457200" y="640080"/>
            <a:ext cx="64008" cy="2377440"/>
          </a:xfrm>
          <a:prstGeom prst="rect">
            <a:avLst/>
          </a:prstGeom>
          <a:solidFill>
            <a:schemeClr val="accent1"/>
          </a:solidFill>
          <a:ln w="12700">
            <a:solidFill>
              <a:schemeClr val="accent1"/>
            </a:solidFill>
            <a:prstDash val="solid"/>
          </a:ln>
        </p:spPr>
      </p:sp>
      <p:sp>
        <p:nvSpPr>
          <p:cNvPr id="3" name="Text 1"/>
          <p:cNvSpPr txBox="1"/>
          <p:nvPr/>
        </p:nvSpPr>
        <p:spPr>
          <a:xfrm>
            <a:off x="731520" y="640080"/>
            <a:ext cx="4572000" cy="274320"/>
          </a:xfrm>
          <a:prstGeom prst="rect">
            <a:avLst/>
          </a:prstGeom>
          <a:noFill/>
          <a:ln/>
        </p:spPr>
        <p:txBody>
          <a:bodyPr wrap="square" lIns="0" tIns="0" rIns="0" bIns="0" rtlCol="0" anchor="ctr"/>
          <a:lstStyle/>
          <a:p>
            <a:pPr indent="0" marL="0">
              <a:buNone/>
            </a:pPr>
            <a:r>
              <a:rPr lang="en-US" sz="1100" b="1" dirty="0">
                <a:solidFill>
                  <a:srgbClr val="7FD3F2"/>
                </a:solidFill>
              </a:rPr>
              <a:t>DATA STRUCTURES &amp; ALGORITHMS</a:t>
            </a:r>
            <a:endParaRPr lang="en-US" sz="1100" dirty="0"/>
          </a:p>
        </p:txBody>
      </p:sp>
      <p:sp>
        <p:nvSpPr>
          <p:cNvPr id="4" name="Text 2"/>
          <p:cNvSpPr txBox="1"/>
          <p:nvPr/>
        </p:nvSpPr>
        <p:spPr>
          <a:xfrm>
            <a:off x="731520" y="960120"/>
            <a:ext cx="4114800" cy="1371600"/>
          </a:xfrm>
          <a:prstGeom prst="rect">
            <a:avLst/>
          </a:prstGeom>
          <a:noFill/>
          <a:ln/>
        </p:spPr>
        <p:txBody>
          <a:bodyPr wrap="square" lIns="0" tIns="0" rIns="0" bIns="0" rtlCol="0" anchor="ctr"/>
          <a:lstStyle/>
          <a:p>
            <a:pPr indent="0" marL="0">
              <a:buNone/>
            </a:pPr>
            <a:r>
              <a:rPr lang="en-US" sz="5000" b="1" dirty="0">
                <a:solidFill>
                  <a:srgbClr val="FFFFFF"/>
                </a:solidFill>
              </a:rPr>
              <a:t>QUICK</a:t>
            </a:r>
            <a:endParaRPr lang="en-US" sz="5000" dirty="0"/>
          </a:p>
          <a:p>
            <a:pPr indent="0" marL="0">
              <a:buNone/>
            </a:pPr>
            <a:r>
              <a:rPr lang="en-US" sz="5000" b="1" dirty="0">
                <a:solidFill>
                  <a:srgbClr val="FFFFFF"/>
                </a:solidFill>
              </a:rPr>
              <a:t>SORT</a:t>
            </a:r>
            <a:endParaRPr lang="en-US" sz="5000" dirty="0"/>
          </a:p>
        </p:txBody>
      </p:sp>
      <p:sp>
        <p:nvSpPr>
          <p:cNvPr id="5" name="Text 3"/>
          <p:cNvSpPr txBox="1"/>
          <p:nvPr/>
        </p:nvSpPr>
        <p:spPr>
          <a:xfrm>
            <a:off x="731520" y="2423160"/>
            <a:ext cx="4114800" cy="365760"/>
          </a:xfrm>
          <a:prstGeom prst="rect">
            <a:avLst/>
          </a:prstGeom>
          <a:noFill/>
          <a:ln/>
        </p:spPr>
        <p:txBody>
          <a:bodyPr wrap="square" lIns="0" tIns="0" rIns="0" bIns="0" rtlCol="0" anchor="ctr"/>
          <a:lstStyle/>
          <a:p>
            <a:pPr indent="0" marL="0">
              <a:buNone/>
            </a:pPr>
            <a:r>
              <a:rPr lang="en-US" sz="1800" b="1" dirty="0">
                <a:solidFill>
                  <a:srgbClr val="FFB27A"/>
                </a:solidFill>
              </a:rPr>
              <a:t>Pick  •  Partition  •  Repeat</a:t>
            </a:r>
            <a:endParaRPr lang="en-US" sz="1800" dirty="0"/>
          </a:p>
        </p:txBody>
      </p:sp>
      <p:sp>
        <p:nvSpPr>
          <p:cNvPr id="6" name="Text 4"/>
          <p:cNvSpPr txBox="1"/>
          <p:nvPr/>
        </p:nvSpPr>
        <p:spPr>
          <a:xfrm>
            <a:off x="731520" y="2880360"/>
            <a:ext cx="4114800" cy="548640"/>
          </a:xfrm>
          <a:prstGeom prst="rect">
            <a:avLst/>
          </a:prstGeom>
          <a:noFill/>
          <a:ln/>
        </p:spPr>
        <p:txBody>
          <a:bodyPr wrap="square" lIns="0" tIns="0" rIns="0" bIns="0" rtlCol="0" anchor="ctr"/>
          <a:lstStyle/>
          <a:p>
            <a:pPr indent="0" marL="0">
              <a:buNone/>
            </a:pPr>
            <a:r>
              <a:rPr lang="en-US" sz="1400" dirty="0">
                <a:solidFill>
                  <a:srgbClr val="C9CED8"/>
                </a:solidFill>
              </a:rPr>
              <a:t>A simple explanation of the algorithm</a:t>
            </a:r>
            <a:endParaRPr lang="en-US" sz="1400" dirty="0"/>
          </a:p>
          <a:p>
            <a:pPr indent="0" marL="0">
              <a:buNone/>
            </a:pPr>
            <a:r>
              <a:rPr lang="en-US" sz="1400" dirty="0">
                <a:solidFill>
                  <a:srgbClr val="C9CED8"/>
                </a:solidFill>
              </a:rPr>
              <a:t>and its implementation in C</a:t>
            </a:r>
            <a:endParaRPr lang="en-US" sz="1400" dirty="0"/>
          </a:p>
        </p:txBody>
      </p:sp>
      <p:sp>
        <p:nvSpPr>
          <p:cNvPr id="7" name="Text 5"/>
          <p:cNvSpPr txBox="1"/>
          <p:nvPr/>
        </p:nvSpPr>
        <p:spPr>
          <a:xfrm>
            <a:off x="731520" y="3931920"/>
            <a:ext cx="4114800" cy="274320"/>
          </a:xfrm>
          <a:prstGeom prst="rect">
            <a:avLst/>
          </a:prstGeom>
          <a:noFill/>
          <a:ln/>
        </p:spPr>
        <p:txBody>
          <a:bodyPr wrap="square" lIns="0" tIns="0" rIns="0" bIns="0" rtlCol="0" anchor="ctr"/>
          <a:lstStyle/>
          <a:p>
            <a:pPr indent="0" marL="0">
              <a:buNone/>
            </a:pPr>
            <a:r>
              <a:rPr lang="en-US" sz="1200" dirty="0">
                <a:solidFill>
                  <a:srgbClr val="9AA1AF"/>
                </a:solidFill>
              </a:rPr>
              <a:t>Verified with the Code Tantra practice program</a:t>
            </a:r>
            <a:endParaRPr lang="en-US" sz="1200" dirty="0"/>
          </a:p>
        </p:txBody>
      </p:sp>
      <p:sp>
        <p:nvSpPr>
          <p:cNvPr id="8" name="Text 6"/>
          <p:cNvSpPr txBox="1"/>
          <p:nvPr/>
        </p:nvSpPr>
        <p:spPr>
          <a:xfrm>
            <a:off x="4937760" y="3977640"/>
            <a:ext cx="3657600" cy="274320"/>
          </a:xfrm>
          <a:prstGeom prst="rect">
            <a:avLst/>
          </a:prstGeom>
          <a:noFill/>
          <a:ln/>
        </p:spPr>
        <p:txBody>
          <a:bodyPr wrap="square" lIns="0" tIns="0" rIns="0" bIns="0" rtlCol="0" anchor="ctr"/>
          <a:lstStyle/>
          <a:p>
            <a:pPr algn="ctr" indent="0" marL="0">
              <a:buNone/>
            </a:pPr>
            <a:r>
              <a:rPr lang="en-US" sz="1000" b="1" dirty="0">
                <a:solidFill>
                  <a:srgbClr val="9AA1AF"/>
                </a:solidFill>
              </a:rPr>
              <a:t>PICK A PIVOT  →  SPLIT  →  REPEAT</a:t>
            </a:r>
            <a:endParaRPr lang="en-US" sz="1000" dirty="0"/>
          </a:p>
        </p:txBody>
      </p:sp>
      <p:sp>
        <p:nvSpPr>
          <p:cNvPr id="9" name="Shape 7"/>
          <p:cNvSpPr/>
          <p:nvPr/>
        </p:nvSpPr>
        <p:spPr>
          <a:xfrm>
            <a:off x="4892040" y="822960"/>
            <a:ext cx="548640" cy="502920"/>
          </a:xfrm>
          <a:prstGeom prst="roundRect">
            <a:avLst>
              <a:gd name="adj" fmla="val 14545"/>
            </a:avLst>
          </a:prstGeom>
          <a:solidFill>
            <a:srgbClr val="FFFFFF"/>
          </a:solidFill>
          <a:ln w="19050">
            <a:solidFill>
              <a:srgbClr val="B9B3A6"/>
            </a:solidFill>
            <a:prstDash val="solid"/>
          </a:ln>
        </p:spPr>
      </p:sp>
      <p:sp>
        <p:nvSpPr>
          <p:cNvPr id="10" name="Text 8"/>
          <p:cNvSpPr txBox="1"/>
          <p:nvPr/>
        </p:nvSpPr>
        <p:spPr>
          <a:xfrm>
            <a:off x="4892040" y="82296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11" name="Shape 9"/>
          <p:cNvSpPr/>
          <p:nvPr/>
        </p:nvSpPr>
        <p:spPr>
          <a:xfrm>
            <a:off x="5532120" y="822960"/>
            <a:ext cx="548640" cy="502920"/>
          </a:xfrm>
          <a:prstGeom prst="roundRect">
            <a:avLst>
              <a:gd name="adj" fmla="val 14545"/>
            </a:avLst>
          </a:prstGeom>
          <a:solidFill>
            <a:srgbClr val="FFFFFF"/>
          </a:solidFill>
          <a:ln w="19050">
            <a:solidFill>
              <a:srgbClr val="B9B3A6"/>
            </a:solidFill>
            <a:prstDash val="solid"/>
          </a:ln>
        </p:spPr>
      </p:sp>
      <p:sp>
        <p:nvSpPr>
          <p:cNvPr id="12" name="Text 10"/>
          <p:cNvSpPr txBox="1"/>
          <p:nvPr/>
        </p:nvSpPr>
        <p:spPr>
          <a:xfrm>
            <a:off x="5532120" y="82296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13" name="Shape 11"/>
          <p:cNvSpPr/>
          <p:nvPr/>
        </p:nvSpPr>
        <p:spPr>
          <a:xfrm>
            <a:off x="6172200" y="822960"/>
            <a:ext cx="548640" cy="502920"/>
          </a:xfrm>
          <a:prstGeom prst="roundRect">
            <a:avLst>
              <a:gd name="adj" fmla="val 14545"/>
            </a:avLst>
          </a:prstGeom>
          <a:solidFill>
            <a:srgbClr val="FFFFFF"/>
          </a:solidFill>
          <a:ln w="19050">
            <a:solidFill>
              <a:srgbClr val="B9B3A6"/>
            </a:solidFill>
            <a:prstDash val="solid"/>
          </a:ln>
        </p:spPr>
      </p:sp>
      <p:sp>
        <p:nvSpPr>
          <p:cNvPr id="14" name="Text 12"/>
          <p:cNvSpPr txBox="1"/>
          <p:nvPr/>
        </p:nvSpPr>
        <p:spPr>
          <a:xfrm>
            <a:off x="6172200" y="82296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15" name="Shape 13"/>
          <p:cNvSpPr/>
          <p:nvPr/>
        </p:nvSpPr>
        <p:spPr>
          <a:xfrm>
            <a:off x="6812280" y="822960"/>
            <a:ext cx="548640" cy="502920"/>
          </a:xfrm>
          <a:prstGeom prst="roundRect">
            <a:avLst>
              <a:gd name="adj" fmla="val 14545"/>
            </a:avLst>
          </a:prstGeom>
          <a:solidFill>
            <a:srgbClr val="FFFFFF"/>
          </a:solidFill>
          <a:ln w="19050">
            <a:solidFill>
              <a:srgbClr val="B9B3A6"/>
            </a:solidFill>
            <a:prstDash val="solid"/>
          </a:ln>
        </p:spPr>
      </p:sp>
      <p:sp>
        <p:nvSpPr>
          <p:cNvPr id="16" name="Text 14"/>
          <p:cNvSpPr txBox="1"/>
          <p:nvPr/>
        </p:nvSpPr>
        <p:spPr>
          <a:xfrm>
            <a:off x="6812280" y="82296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17" name="Shape 15"/>
          <p:cNvSpPr/>
          <p:nvPr/>
        </p:nvSpPr>
        <p:spPr>
          <a:xfrm>
            <a:off x="7452360" y="822960"/>
            <a:ext cx="548640" cy="502920"/>
          </a:xfrm>
          <a:prstGeom prst="roundRect">
            <a:avLst>
              <a:gd name="adj" fmla="val 14545"/>
            </a:avLst>
          </a:prstGeom>
          <a:solidFill>
            <a:srgbClr val="FFFFFF"/>
          </a:solidFill>
          <a:ln w="19050">
            <a:solidFill>
              <a:srgbClr val="B9B3A6"/>
            </a:solidFill>
            <a:prstDash val="solid"/>
          </a:ln>
        </p:spPr>
      </p:sp>
      <p:sp>
        <p:nvSpPr>
          <p:cNvPr id="18" name="Text 16"/>
          <p:cNvSpPr txBox="1"/>
          <p:nvPr/>
        </p:nvSpPr>
        <p:spPr>
          <a:xfrm>
            <a:off x="7452360" y="82296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a:t>
            </a:r>
            <a:endParaRPr lang="en-US" sz="1800" dirty="0"/>
          </a:p>
        </p:txBody>
      </p:sp>
      <p:sp>
        <p:nvSpPr>
          <p:cNvPr id="19" name="Shape 17"/>
          <p:cNvSpPr/>
          <p:nvPr/>
        </p:nvSpPr>
        <p:spPr>
          <a:xfrm>
            <a:off x="8092440" y="822960"/>
            <a:ext cx="548640" cy="502920"/>
          </a:xfrm>
          <a:prstGeom prst="roundRect">
            <a:avLst>
              <a:gd name="adj" fmla="val 14545"/>
            </a:avLst>
          </a:prstGeom>
          <a:solidFill>
            <a:srgbClr val="FF8A3D"/>
          </a:solidFill>
          <a:ln w="19050">
            <a:solidFill>
              <a:srgbClr val="FF8A3D"/>
            </a:solidFill>
            <a:prstDash val="solid"/>
          </a:ln>
        </p:spPr>
      </p:sp>
      <p:sp>
        <p:nvSpPr>
          <p:cNvPr id="20" name="Text 18"/>
          <p:cNvSpPr txBox="1"/>
          <p:nvPr/>
        </p:nvSpPr>
        <p:spPr>
          <a:xfrm>
            <a:off x="8092440" y="82296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Shape 19"/>
          <p:cNvSpPr/>
          <p:nvPr/>
        </p:nvSpPr>
        <p:spPr>
          <a:xfrm>
            <a:off x="4892040" y="1874520"/>
            <a:ext cx="548640" cy="502920"/>
          </a:xfrm>
          <a:prstGeom prst="roundRect">
            <a:avLst>
              <a:gd name="adj" fmla="val 14545"/>
            </a:avLst>
          </a:prstGeom>
          <a:solidFill>
            <a:srgbClr val="4CAF72"/>
          </a:solidFill>
          <a:ln w="19050">
            <a:solidFill>
              <a:srgbClr val="4CAF72"/>
            </a:solidFill>
            <a:prstDash val="solid"/>
          </a:ln>
        </p:spPr>
      </p:sp>
      <p:sp>
        <p:nvSpPr>
          <p:cNvPr id="22" name="Text 20"/>
          <p:cNvSpPr txBox="1"/>
          <p:nvPr/>
        </p:nvSpPr>
        <p:spPr>
          <a:xfrm>
            <a:off x="4892040" y="18745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23" name="Shape 21"/>
          <p:cNvSpPr/>
          <p:nvPr/>
        </p:nvSpPr>
        <p:spPr>
          <a:xfrm>
            <a:off x="5532120" y="1874520"/>
            <a:ext cx="548640" cy="502920"/>
          </a:xfrm>
          <a:prstGeom prst="roundRect">
            <a:avLst>
              <a:gd name="adj" fmla="val 14545"/>
            </a:avLst>
          </a:prstGeom>
          <a:solidFill>
            <a:srgbClr val="FF8A3D"/>
          </a:solidFill>
          <a:ln w="19050">
            <a:solidFill>
              <a:srgbClr val="FF8A3D"/>
            </a:solidFill>
            <a:prstDash val="solid"/>
          </a:ln>
        </p:spPr>
      </p:sp>
      <p:sp>
        <p:nvSpPr>
          <p:cNvPr id="24" name="Text 22"/>
          <p:cNvSpPr txBox="1"/>
          <p:nvPr/>
        </p:nvSpPr>
        <p:spPr>
          <a:xfrm>
            <a:off x="5532120" y="18745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5" name="Shape 23"/>
          <p:cNvSpPr/>
          <p:nvPr/>
        </p:nvSpPr>
        <p:spPr>
          <a:xfrm>
            <a:off x="6172200" y="1874520"/>
            <a:ext cx="548640" cy="502920"/>
          </a:xfrm>
          <a:prstGeom prst="roundRect">
            <a:avLst>
              <a:gd name="adj" fmla="val 14545"/>
            </a:avLst>
          </a:prstGeom>
          <a:solidFill>
            <a:srgbClr val="FFFFFF"/>
          </a:solidFill>
          <a:ln w="19050">
            <a:solidFill>
              <a:srgbClr val="B9B3A6"/>
            </a:solidFill>
            <a:prstDash val="solid"/>
          </a:ln>
        </p:spPr>
      </p:sp>
      <p:sp>
        <p:nvSpPr>
          <p:cNvPr id="26" name="Text 24"/>
          <p:cNvSpPr txBox="1"/>
          <p:nvPr/>
        </p:nvSpPr>
        <p:spPr>
          <a:xfrm>
            <a:off x="6172200" y="18745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27" name="Shape 25"/>
          <p:cNvSpPr/>
          <p:nvPr/>
        </p:nvSpPr>
        <p:spPr>
          <a:xfrm>
            <a:off x="6812280" y="1874520"/>
            <a:ext cx="548640" cy="502920"/>
          </a:xfrm>
          <a:prstGeom prst="roundRect">
            <a:avLst>
              <a:gd name="adj" fmla="val 14545"/>
            </a:avLst>
          </a:prstGeom>
          <a:solidFill>
            <a:srgbClr val="FFFFFF"/>
          </a:solidFill>
          <a:ln w="19050">
            <a:solidFill>
              <a:srgbClr val="B9B3A6"/>
            </a:solidFill>
            <a:prstDash val="solid"/>
          </a:ln>
        </p:spPr>
      </p:sp>
      <p:sp>
        <p:nvSpPr>
          <p:cNvPr id="28" name="Text 26"/>
          <p:cNvSpPr txBox="1"/>
          <p:nvPr/>
        </p:nvSpPr>
        <p:spPr>
          <a:xfrm>
            <a:off x="6812280" y="18745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29" name="Shape 27"/>
          <p:cNvSpPr/>
          <p:nvPr/>
        </p:nvSpPr>
        <p:spPr>
          <a:xfrm>
            <a:off x="7452360" y="1874520"/>
            <a:ext cx="548640" cy="502920"/>
          </a:xfrm>
          <a:prstGeom prst="roundRect">
            <a:avLst>
              <a:gd name="adj" fmla="val 14545"/>
            </a:avLst>
          </a:prstGeom>
          <a:solidFill>
            <a:srgbClr val="FFFFFF"/>
          </a:solidFill>
          <a:ln w="19050">
            <a:solidFill>
              <a:srgbClr val="B9B3A6"/>
            </a:solidFill>
            <a:prstDash val="solid"/>
          </a:ln>
        </p:spPr>
      </p:sp>
      <p:sp>
        <p:nvSpPr>
          <p:cNvPr id="30" name="Text 28"/>
          <p:cNvSpPr txBox="1"/>
          <p:nvPr/>
        </p:nvSpPr>
        <p:spPr>
          <a:xfrm>
            <a:off x="7452360" y="18745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31" name="Shape 29"/>
          <p:cNvSpPr/>
          <p:nvPr/>
        </p:nvSpPr>
        <p:spPr>
          <a:xfrm>
            <a:off x="8092440" y="1874520"/>
            <a:ext cx="548640" cy="502920"/>
          </a:xfrm>
          <a:prstGeom prst="roundRect">
            <a:avLst>
              <a:gd name="adj" fmla="val 14545"/>
            </a:avLst>
          </a:prstGeom>
          <a:solidFill>
            <a:srgbClr val="FFFFFF"/>
          </a:solidFill>
          <a:ln w="19050">
            <a:solidFill>
              <a:srgbClr val="B9B3A6"/>
            </a:solidFill>
            <a:prstDash val="solid"/>
          </a:ln>
        </p:spPr>
      </p:sp>
      <p:sp>
        <p:nvSpPr>
          <p:cNvPr id="32" name="Text 30"/>
          <p:cNvSpPr txBox="1"/>
          <p:nvPr/>
        </p:nvSpPr>
        <p:spPr>
          <a:xfrm>
            <a:off x="8092440" y="18745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33" name="Shape 31"/>
          <p:cNvSpPr/>
          <p:nvPr/>
        </p:nvSpPr>
        <p:spPr>
          <a:xfrm>
            <a:off x="4892040" y="2926080"/>
            <a:ext cx="548640" cy="502920"/>
          </a:xfrm>
          <a:prstGeom prst="roundRect">
            <a:avLst>
              <a:gd name="adj" fmla="val 14545"/>
            </a:avLst>
          </a:prstGeom>
          <a:solidFill>
            <a:srgbClr val="4CAF72"/>
          </a:solidFill>
          <a:ln w="19050">
            <a:solidFill>
              <a:srgbClr val="4CAF72"/>
            </a:solidFill>
            <a:prstDash val="solid"/>
          </a:ln>
        </p:spPr>
      </p:sp>
      <p:sp>
        <p:nvSpPr>
          <p:cNvPr id="34" name="Text 32"/>
          <p:cNvSpPr txBox="1"/>
          <p:nvPr/>
        </p:nvSpPr>
        <p:spPr>
          <a:xfrm>
            <a:off x="489204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35" name="Shape 33"/>
          <p:cNvSpPr/>
          <p:nvPr/>
        </p:nvSpPr>
        <p:spPr>
          <a:xfrm>
            <a:off x="5532120" y="2926080"/>
            <a:ext cx="548640" cy="502920"/>
          </a:xfrm>
          <a:prstGeom prst="roundRect">
            <a:avLst>
              <a:gd name="adj" fmla="val 14545"/>
            </a:avLst>
          </a:prstGeom>
          <a:solidFill>
            <a:srgbClr val="4CAF72"/>
          </a:solidFill>
          <a:ln w="19050">
            <a:solidFill>
              <a:srgbClr val="4CAF72"/>
            </a:solidFill>
            <a:prstDash val="solid"/>
          </a:ln>
        </p:spPr>
      </p:sp>
      <p:sp>
        <p:nvSpPr>
          <p:cNvPr id="36" name="Text 34"/>
          <p:cNvSpPr txBox="1"/>
          <p:nvPr/>
        </p:nvSpPr>
        <p:spPr>
          <a:xfrm>
            <a:off x="553212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7" name="Shape 35"/>
          <p:cNvSpPr/>
          <p:nvPr/>
        </p:nvSpPr>
        <p:spPr>
          <a:xfrm>
            <a:off x="6172200" y="2926080"/>
            <a:ext cx="548640" cy="502920"/>
          </a:xfrm>
          <a:prstGeom prst="roundRect">
            <a:avLst>
              <a:gd name="adj" fmla="val 14545"/>
            </a:avLst>
          </a:prstGeom>
          <a:solidFill>
            <a:srgbClr val="4CAF72"/>
          </a:solidFill>
          <a:ln w="19050">
            <a:solidFill>
              <a:srgbClr val="4CAF72"/>
            </a:solidFill>
            <a:prstDash val="solid"/>
          </a:ln>
        </p:spPr>
      </p:sp>
      <p:sp>
        <p:nvSpPr>
          <p:cNvPr id="38" name="Text 36"/>
          <p:cNvSpPr txBox="1"/>
          <p:nvPr/>
        </p:nvSpPr>
        <p:spPr>
          <a:xfrm>
            <a:off x="617220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39" name="Shape 37"/>
          <p:cNvSpPr/>
          <p:nvPr/>
        </p:nvSpPr>
        <p:spPr>
          <a:xfrm>
            <a:off x="6812280" y="2926080"/>
            <a:ext cx="548640" cy="502920"/>
          </a:xfrm>
          <a:prstGeom prst="roundRect">
            <a:avLst>
              <a:gd name="adj" fmla="val 14545"/>
            </a:avLst>
          </a:prstGeom>
          <a:solidFill>
            <a:srgbClr val="4CAF72"/>
          </a:solidFill>
          <a:ln w="19050">
            <a:solidFill>
              <a:srgbClr val="4CAF72"/>
            </a:solidFill>
            <a:prstDash val="solid"/>
          </a:ln>
        </p:spPr>
      </p:sp>
      <p:sp>
        <p:nvSpPr>
          <p:cNvPr id="40" name="Text 38"/>
          <p:cNvSpPr txBox="1"/>
          <p:nvPr/>
        </p:nvSpPr>
        <p:spPr>
          <a:xfrm>
            <a:off x="681228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41" name="Shape 39"/>
          <p:cNvSpPr/>
          <p:nvPr/>
        </p:nvSpPr>
        <p:spPr>
          <a:xfrm>
            <a:off x="7452360" y="2926080"/>
            <a:ext cx="548640" cy="502920"/>
          </a:xfrm>
          <a:prstGeom prst="roundRect">
            <a:avLst>
              <a:gd name="adj" fmla="val 14545"/>
            </a:avLst>
          </a:prstGeom>
          <a:solidFill>
            <a:srgbClr val="4CAF72"/>
          </a:solidFill>
          <a:ln w="19050">
            <a:solidFill>
              <a:srgbClr val="4CAF72"/>
            </a:solidFill>
            <a:prstDash val="solid"/>
          </a:ln>
        </p:spPr>
      </p:sp>
      <p:sp>
        <p:nvSpPr>
          <p:cNvPr id="42" name="Text 40"/>
          <p:cNvSpPr txBox="1"/>
          <p:nvPr/>
        </p:nvSpPr>
        <p:spPr>
          <a:xfrm>
            <a:off x="745236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9</a:t>
            </a:r>
            <a:endParaRPr lang="en-US" sz="1800" dirty="0"/>
          </a:p>
        </p:txBody>
      </p:sp>
      <p:sp>
        <p:nvSpPr>
          <p:cNvPr id="43" name="Shape 41"/>
          <p:cNvSpPr/>
          <p:nvPr/>
        </p:nvSpPr>
        <p:spPr>
          <a:xfrm>
            <a:off x="8092440" y="2926080"/>
            <a:ext cx="548640" cy="502920"/>
          </a:xfrm>
          <a:prstGeom prst="roundRect">
            <a:avLst>
              <a:gd name="adj" fmla="val 14545"/>
            </a:avLst>
          </a:prstGeom>
          <a:solidFill>
            <a:srgbClr val="4CAF72"/>
          </a:solidFill>
          <a:ln w="19050">
            <a:solidFill>
              <a:srgbClr val="4CAF72"/>
            </a:solidFill>
            <a:prstDash val="solid"/>
          </a:ln>
        </p:spPr>
      </p:sp>
      <p:sp>
        <p:nvSpPr>
          <p:cNvPr id="44" name="Text 42"/>
          <p:cNvSpPr txBox="1"/>
          <p:nvPr/>
        </p:nvSpPr>
        <p:spPr>
          <a:xfrm>
            <a:off x="8092440" y="29260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10</a:t>
            </a:r>
            <a:endParaRPr lang="en-US" sz="1800" dirty="0"/>
          </a:p>
        </p:txBody>
      </p:sp>
      <p:sp>
        <p:nvSpPr>
          <p:cNvPr id="45" name="Text 43"/>
          <p:cNvSpPr txBox="1"/>
          <p:nvPr/>
        </p:nvSpPr>
        <p:spPr>
          <a:xfrm>
            <a:off x="4892040" y="1371600"/>
            <a:ext cx="3840480" cy="274320"/>
          </a:xfrm>
          <a:prstGeom prst="rect">
            <a:avLst/>
          </a:prstGeom>
          <a:noFill/>
          <a:ln/>
        </p:spPr>
        <p:txBody>
          <a:bodyPr wrap="square" lIns="0" tIns="0" rIns="0" bIns="0" rtlCol="0" anchor="ctr"/>
          <a:lstStyle/>
          <a:p>
            <a:pPr algn="ctr" indent="0" marL="0">
              <a:buNone/>
            </a:pPr>
            <a:r>
              <a:rPr lang="en-US" sz="1100" dirty="0">
                <a:solidFill>
                  <a:srgbClr val="9AA1AF"/>
                </a:solidFill>
              </a:rPr>
              <a:t>pivot = 5</a:t>
            </a:r>
            <a:endParaRPr lang="en-US" sz="1100" dirty="0"/>
          </a:p>
        </p:txBody>
      </p:sp>
      <p:sp>
        <p:nvSpPr>
          <p:cNvPr id="46" name="Text 44"/>
          <p:cNvSpPr txBox="1"/>
          <p:nvPr/>
        </p:nvSpPr>
        <p:spPr>
          <a:xfrm>
            <a:off x="4892040" y="2423160"/>
            <a:ext cx="3840480" cy="274320"/>
          </a:xfrm>
          <a:prstGeom prst="rect">
            <a:avLst/>
          </a:prstGeom>
          <a:noFill/>
          <a:ln/>
        </p:spPr>
        <p:txBody>
          <a:bodyPr wrap="square" lIns="0" tIns="0" rIns="0" bIns="0" rtlCol="0" anchor="ctr"/>
          <a:lstStyle/>
          <a:p>
            <a:pPr algn="ctr" indent="0" marL="0">
              <a:buNone/>
            </a:pPr>
            <a:r>
              <a:rPr lang="en-US" sz="1100" dirty="0">
                <a:solidFill>
                  <a:srgbClr val="9AA1AF"/>
                </a:solidFill>
              </a:rPr>
              <a:t>pivot placed</a:t>
            </a:r>
            <a:endParaRPr lang="en-US" sz="1100" dirty="0"/>
          </a:p>
        </p:txBody>
      </p:sp>
      <p:sp>
        <p:nvSpPr>
          <p:cNvPr id="47" name="Text 45"/>
          <p:cNvSpPr txBox="1"/>
          <p:nvPr/>
        </p:nvSpPr>
        <p:spPr>
          <a:xfrm>
            <a:off x="4892040" y="3474720"/>
            <a:ext cx="3840480" cy="274320"/>
          </a:xfrm>
          <a:prstGeom prst="rect">
            <a:avLst/>
          </a:prstGeom>
          <a:noFill/>
          <a:ln/>
        </p:spPr>
        <p:txBody>
          <a:bodyPr wrap="square" lIns="0" tIns="0" rIns="0" bIns="0" rtlCol="0" anchor="ctr"/>
          <a:lstStyle/>
          <a:p>
            <a:pPr algn="ctr" indent="0" marL="0">
              <a:buNone/>
            </a:pPr>
            <a:r>
              <a:rPr lang="en-US" sz="1100" dirty="0">
                <a:solidFill>
                  <a:srgbClr val="9AA1AF"/>
                </a:solidFill>
              </a:rPr>
              <a:t>sorted</a:t>
            </a:r>
            <a:endParaRPr lang="en-US" sz="1100" dirty="0"/>
          </a:p>
        </p:txBody>
      </p:sp>
      <p:sp>
        <p:nvSpPr>
          <p:cNvPr id="48" name="Text 46"/>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rgbClr val="9AA1AF"/>
                </a:solidFill>
              </a:rPr>
              <a:t>QUICK SORT  •  C PROGRAMMING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1. What is Quick Sort?</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A fast sorting method built around a pivot</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Text 5"/>
          <p:cNvSpPr txBox="1"/>
          <p:nvPr/>
        </p:nvSpPr>
        <p:spPr>
          <a:xfrm>
            <a:off x="548640" y="1280160"/>
            <a:ext cx="8046720" cy="457200"/>
          </a:xfrm>
          <a:prstGeom prst="rect">
            <a:avLst/>
          </a:prstGeom>
          <a:noFill/>
          <a:ln/>
        </p:spPr>
        <p:txBody>
          <a:bodyPr wrap="square" lIns="0" tIns="0" rIns="0" bIns="0" rtlCol="0" anchor="ctr"/>
          <a:lstStyle/>
          <a:p>
            <a:pPr algn="ctr" indent="0" marL="0">
              <a:buNone/>
            </a:pPr>
            <a:r>
              <a:rPr lang="en-US" sz="2000" b="1" dirty="0">
                <a:solidFill>
                  <a:schemeClr val="tx1"/>
                </a:solidFill>
              </a:rPr>
              <a:t>Quick Sort arranges numbers from smallest to largest.</a:t>
            </a:r>
            <a:endParaRPr lang="en-US" sz="2000" dirty="0"/>
          </a:p>
        </p:txBody>
      </p:sp>
      <p:sp>
        <p:nvSpPr>
          <p:cNvPr id="8" name="Shape 6"/>
          <p:cNvSpPr/>
          <p:nvPr/>
        </p:nvSpPr>
        <p:spPr>
          <a:xfrm>
            <a:off x="548640" y="1920240"/>
            <a:ext cx="2560320" cy="1737360"/>
          </a:xfrm>
          <a:prstGeom prst="roundRect">
            <a:avLst>
              <a:gd name="adj" fmla="val 5263"/>
            </a:avLst>
          </a:prstGeom>
          <a:solidFill>
            <a:schemeClr val="bg1"/>
          </a:solidFill>
          <a:ln w="12700">
            <a:solidFill>
              <a:srgbClr val="E3DED4"/>
            </a:solidFill>
            <a:prstDash val="solid"/>
          </a:ln>
        </p:spPr>
      </p:sp>
      <p:sp>
        <p:nvSpPr>
          <p:cNvPr id="9" name="Shape 7"/>
          <p:cNvSpPr/>
          <p:nvPr/>
        </p:nvSpPr>
        <p:spPr>
          <a:xfrm>
            <a:off x="685800" y="1920240"/>
            <a:ext cx="2286000" cy="64008"/>
          </a:xfrm>
          <a:prstGeom prst="rect">
            <a:avLst/>
          </a:prstGeom>
          <a:solidFill>
            <a:schemeClr val="accent1"/>
          </a:solidFill>
          <a:ln w="12700">
            <a:solidFill>
              <a:schemeClr val="accent1"/>
            </a:solidFill>
            <a:prstDash val="solid"/>
          </a:ln>
        </p:spPr>
      </p:sp>
      <p:sp>
        <p:nvSpPr>
          <p:cNvPr id="10" name="Text 8"/>
          <p:cNvSpPr txBox="1"/>
          <p:nvPr/>
        </p:nvSpPr>
        <p:spPr>
          <a:xfrm>
            <a:off x="731520" y="210312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PICK</a:t>
            </a:r>
            <a:endParaRPr lang="en-US" sz="1600" dirty="0"/>
          </a:p>
        </p:txBody>
      </p:sp>
      <p:sp>
        <p:nvSpPr>
          <p:cNvPr id="11" name="Text 9"/>
          <p:cNvSpPr txBox="1"/>
          <p:nvPr/>
        </p:nvSpPr>
        <p:spPr>
          <a:xfrm>
            <a:off x="731520" y="2514600"/>
            <a:ext cx="2194560" cy="105156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Choose one element as the pivot. In our program it is the last element.</a:t>
            </a:r>
            <a:endParaRPr lang="en-US" sz="1300" dirty="0"/>
          </a:p>
        </p:txBody>
      </p:sp>
      <p:sp>
        <p:nvSpPr>
          <p:cNvPr id="12" name="Shape 10"/>
          <p:cNvSpPr/>
          <p:nvPr/>
        </p:nvSpPr>
        <p:spPr>
          <a:xfrm>
            <a:off x="3291840" y="1920240"/>
            <a:ext cx="2560320" cy="1737360"/>
          </a:xfrm>
          <a:prstGeom prst="roundRect">
            <a:avLst>
              <a:gd name="adj" fmla="val 5263"/>
            </a:avLst>
          </a:prstGeom>
          <a:solidFill>
            <a:schemeClr val="bg1"/>
          </a:solidFill>
          <a:ln w="12700">
            <a:solidFill>
              <a:srgbClr val="E3DED4"/>
            </a:solidFill>
            <a:prstDash val="solid"/>
          </a:ln>
        </p:spPr>
      </p:sp>
      <p:sp>
        <p:nvSpPr>
          <p:cNvPr id="13" name="Shape 11"/>
          <p:cNvSpPr/>
          <p:nvPr/>
        </p:nvSpPr>
        <p:spPr>
          <a:xfrm>
            <a:off x="3429000" y="1920240"/>
            <a:ext cx="2286000" cy="64008"/>
          </a:xfrm>
          <a:prstGeom prst="rect">
            <a:avLst/>
          </a:prstGeom>
          <a:solidFill>
            <a:schemeClr val="accent2"/>
          </a:solidFill>
          <a:ln w="12700">
            <a:solidFill>
              <a:schemeClr val="accent2"/>
            </a:solidFill>
            <a:prstDash val="solid"/>
          </a:ln>
        </p:spPr>
      </p:sp>
      <p:sp>
        <p:nvSpPr>
          <p:cNvPr id="14" name="Text 12"/>
          <p:cNvSpPr txBox="1"/>
          <p:nvPr/>
        </p:nvSpPr>
        <p:spPr>
          <a:xfrm>
            <a:off x="3474720" y="210312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PARTITION</a:t>
            </a:r>
            <a:endParaRPr lang="en-US" sz="1600" dirty="0"/>
          </a:p>
        </p:txBody>
      </p:sp>
      <p:sp>
        <p:nvSpPr>
          <p:cNvPr id="15" name="Text 13"/>
          <p:cNvSpPr txBox="1"/>
          <p:nvPr/>
        </p:nvSpPr>
        <p:spPr>
          <a:xfrm>
            <a:off x="3474720" y="2514600"/>
            <a:ext cx="2194560" cy="105156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Move values smaller than or equal to the pivot to its left, and larger values to its right.</a:t>
            </a:r>
            <a:endParaRPr lang="en-US" sz="1300" dirty="0"/>
          </a:p>
        </p:txBody>
      </p:sp>
      <p:sp>
        <p:nvSpPr>
          <p:cNvPr id="16" name="Shape 14"/>
          <p:cNvSpPr/>
          <p:nvPr/>
        </p:nvSpPr>
        <p:spPr>
          <a:xfrm>
            <a:off x="6035040" y="1920240"/>
            <a:ext cx="2560320" cy="1737360"/>
          </a:xfrm>
          <a:prstGeom prst="roundRect">
            <a:avLst>
              <a:gd name="adj" fmla="val 5263"/>
            </a:avLst>
          </a:prstGeom>
          <a:solidFill>
            <a:schemeClr val="bg1"/>
          </a:solidFill>
          <a:ln w="12700">
            <a:solidFill>
              <a:srgbClr val="E3DED4"/>
            </a:solidFill>
            <a:prstDash val="solid"/>
          </a:ln>
        </p:spPr>
      </p:sp>
      <p:sp>
        <p:nvSpPr>
          <p:cNvPr id="17" name="Shape 15"/>
          <p:cNvSpPr/>
          <p:nvPr/>
        </p:nvSpPr>
        <p:spPr>
          <a:xfrm>
            <a:off x="6172200" y="1920240"/>
            <a:ext cx="2286000" cy="64008"/>
          </a:xfrm>
          <a:prstGeom prst="rect">
            <a:avLst/>
          </a:prstGeom>
          <a:solidFill>
            <a:schemeClr val="accent3"/>
          </a:solidFill>
          <a:ln w="12700">
            <a:solidFill>
              <a:schemeClr val="accent3"/>
            </a:solidFill>
            <a:prstDash val="solid"/>
          </a:ln>
        </p:spPr>
      </p:sp>
      <p:sp>
        <p:nvSpPr>
          <p:cNvPr id="18" name="Text 16"/>
          <p:cNvSpPr txBox="1"/>
          <p:nvPr/>
        </p:nvSpPr>
        <p:spPr>
          <a:xfrm>
            <a:off x="6217920" y="210312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REPEAT</a:t>
            </a:r>
            <a:endParaRPr lang="en-US" sz="1600" dirty="0"/>
          </a:p>
        </p:txBody>
      </p:sp>
      <p:sp>
        <p:nvSpPr>
          <p:cNvPr id="19" name="Text 17"/>
          <p:cNvSpPr txBox="1"/>
          <p:nvPr/>
        </p:nvSpPr>
        <p:spPr>
          <a:xfrm>
            <a:off x="6217920" y="2514600"/>
            <a:ext cx="2194560" cy="105156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Sort the left part and the right part in the same way.</a:t>
            </a:r>
            <a:endParaRPr lang="en-US" sz="1300" dirty="0"/>
          </a:p>
        </p:txBody>
      </p:sp>
      <p:sp>
        <p:nvSpPr>
          <p:cNvPr id="20" name="Text 18"/>
          <p:cNvSpPr txBox="1"/>
          <p:nvPr/>
        </p:nvSpPr>
        <p:spPr>
          <a:xfrm>
            <a:off x="731520" y="3931920"/>
            <a:ext cx="7680960" cy="548640"/>
          </a:xfrm>
          <a:prstGeom prst="rect">
            <a:avLst/>
          </a:prstGeom>
          <a:noFill/>
          <a:ln/>
        </p:spPr>
        <p:txBody>
          <a:bodyPr wrap="square" lIns="0" tIns="0" rIns="0" bIns="0" rtlCol="0" anchor="ctr"/>
          <a:lstStyle/>
          <a:p>
            <a:pPr algn="ctr" indent="0" marL="0">
              <a:buNone/>
            </a:pPr>
            <a:r>
              <a:rPr lang="en-US" sz="1400" dirty="0">
                <a:solidFill>
                  <a:schemeClr val="accent6"/>
                </a:solidFill>
              </a:rPr>
              <a:t>Think of it as choosing a leader, splitting everyone into a smaller group and a bigger group, then doing the same inside each group.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2. Divide and Conquer</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Quick Sort follows three steps</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371600"/>
            <a:ext cx="2560320" cy="2468880"/>
          </a:xfrm>
          <a:prstGeom prst="roundRect">
            <a:avLst>
              <a:gd name="adj" fmla="val 3704"/>
            </a:avLst>
          </a:prstGeom>
          <a:solidFill>
            <a:schemeClr val="bg1"/>
          </a:solidFill>
          <a:ln w="12700">
            <a:solidFill>
              <a:srgbClr val="E3DED4"/>
            </a:solidFill>
            <a:prstDash val="solid"/>
          </a:ln>
        </p:spPr>
      </p:sp>
      <p:sp>
        <p:nvSpPr>
          <p:cNvPr id="8" name="Shape 6"/>
          <p:cNvSpPr/>
          <p:nvPr/>
        </p:nvSpPr>
        <p:spPr>
          <a:xfrm>
            <a:off x="685800" y="1371600"/>
            <a:ext cx="2286000" cy="64008"/>
          </a:xfrm>
          <a:prstGeom prst="rect">
            <a:avLst/>
          </a:prstGeom>
          <a:solidFill>
            <a:schemeClr val="accent1"/>
          </a:solidFill>
          <a:ln w="12700">
            <a:solidFill>
              <a:schemeClr val="accent1"/>
            </a:solidFill>
            <a:prstDash val="solid"/>
          </a:ln>
        </p:spPr>
      </p:sp>
      <p:sp>
        <p:nvSpPr>
          <p:cNvPr id="9" name="Text 7"/>
          <p:cNvSpPr txBox="1"/>
          <p:nvPr/>
        </p:nvSpPr>
        <p:spPr>
          <a:xfrm>
            <a:off x="731520" y="155448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1. DIVIDE</a:t>
            </a:r>
            <a:endParaRPr lang="en-US" sz="1600" dirty="0"/>
          </a:p>
        </p:txBody>
      </p:sp>
      <p:sp>
        <p:nvSpPr>
          <p:cNvPr id="10" name="Text 8"/>
          <p:cNvSpPr txBox="1"/>
          <p:nvPr/>
        </p:nvSpPr>
        <p:spPr>
          <a:xfrm>
            <a:off x="731520" y="1965960"/>
            <a:ext cx="2194560" cy="178308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Partition the array around the pivot.</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Example: [10, 7, 8, 9, 1, 5] with pivot 5 becomes [1] 5 [8, 9, 10, 7].</a:t>
            </a:r>
            <a:endParaRPr lang="en-US" sz="1300" dirty="0"/>
          </a:p>
        </p:txBody>
      </p:sp>
      <p:sp>
        <p:nvSpPr>
          <p:cNvPr id="11" name="Shape 9"/>
          <p:cNvSpPr/>
          <p:nvPr/>
        </p:nvSpPr>
        <p:spPr>
          <a:xfrm>
            <a:off x="3291840" y="1371600"/>
            <a:ext cx="2560320" cy="2468880"/>
          </a:xfrm>
          <a:prstGeom prst="roundRect">
            <a:avLst>
              <a:gd name="adj" fmla="val 3704"/>
            </a:avLst>
          </a:prstGeom>
          <a:solidFill>
            <a:schemeClr val="bg1"/>
          </a:solidFill>
          <a:ln w="12700">
            <a:solidFill>
              <a:srgbClr val="E3DED4"/>
            </a:solidFill>
            <a:prstDash val="solid"/>
          </a:ln>
        </p:spPr>
      </p:sp>
      <p:sp>
        <p:nvSpPr>
          <p:cNvPr id="12" name="Shape 10"/>
          <p:cNvSpPr/>
          <p:nvPr/>
        </p:nvSpPr>
        <p:spPr>
          <a:xfrm>
            <a:off x="3429000" y="1371600"/>
            <a:ext cx="2286000" cy="64008"/>
          </a:xfrm>
          <a:prstGeom prst="rect">
            <a:avLst/>
          </a:prstGeom>
          <a:solidFill>
            <a:schemeClr val="accent2"/>
          </a:solidFill>
          <a:ln w="12700">
            <a:solidFill>
              <a:schemeClr val="accent2"/>
            </a:solidFill>
            <a:prstDash val="solid"/>
          </a:ln>
        </p:spPr>
      </p:sp>
      <p:sp>
        <p:nvSpPr>
          <p:cNvPr id="13" name="Text 11"/>
          <p:cNvSpPr txBox="1"/>
          <p:nvPr/>
        </p:nvSpPr>
        <p:spPr>
          <a:xfrm>
            <a:off x="3474720" y="155448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2. CONQUER</a:t>
            </a:r>
            <a:endParaRPr lang="en-US" sz="1600" dirty="0"/>
          </a:p>
        </p:txBody>
      </p:sp>
      <p:sp>
        <p:nvSpPr>
          <p:cNvPr id="14" name="Text 12"/>
          <p:cNvSpPr txBox="1"/>
          <p:nvPr/>
        </p:nvSpPr>
        <p:spPr>
          <a:xfrm>
            <a:off x="3474720" y="1965960"/>
            <a:ext cx="2194560" cy="178308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Sort the left part and the right part by calling quickSort() on each.</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A part with 0 or 1 element is already sorted.</a:t>
            </a:r>
            <a:endParaRPr lang="en-US" sz="1300" dirty="0"/>
          </a:p>
        </p:txBody>
      </p:sp>
      <p:sp>
        <p:nvSpPr>
          <p:cNvPr id="15" name="Shape 13"/>
          <p:cNvSpPr/>
          <p:nvPr/>
        </p:nvSpPr>
        <p:spPr>
          <a:xfrm>
            <a:off x="6035040" y="1371600"/>
            <a:ext cx="2560320" cy="2468880"/>
          </a:xfrm>
          <a:prstGeom prst="roundRect">
            <a:avLst>
              <a:gd name="adj" fmla="val 3704"/>
            </a:avLst>
          </a:prstGeom>
          <a:solidFill>
            <a:schemeClr val="bg1"/>
          </a:solidFill>
          <a:ln w="12700">
            <a:solidFill>
              <a:srgbClr val="E3DED4"/>
            </a:solidFill>
            <a:prstDash val="solid"/>
          </a:ln>
        </p:spPr>
      </p:sp>
      <p:sp>
        <p:nvSpPr>
          <p:cNvPr id="16" name="Shape 14"/>
          <p:cNvSpPr/>
          <p:nvPr/>
        </p:nvSpPr>
        <p:spPr>
          <a:xfrm>
            <a:off x="6172200" y="1371600"/>
            <a:ext cx="2286000" cy="64008"/>
          </a:xfrm>
          <a:prstGeom prst="rect">
            <a:avLst/>
          </a:prstGeom>
          <a:solidFill>
            <a:schemeClr val="accent3"/>
          </a:solidFill>
          <a:ln w="12700">
            <a:solidFill>
              <a:schemeClr val="accent3"/>
            </a:solidFill>
            <a:prstDash val="solid"/>
          </a:ln>
        </p:spPr>
      </p:sp>
      <p:sp>
        <p:nvSpPr>
          <p:cNvPr id="17" name="Text 15"/>
          <p:cNvSpPr txBox="1"/>
          <p:nvPr/>
        </p:nvSpPr>
        <p:spPr>
          <a:xfrm>
            <a:off x="6217920" y="155448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3. COMBINE</a:t>
            </a:r>
            <a:endParaRPr lang="en-US" sz="1600" dirty="0"/>
          </a:p>
        </p:txBody>
      </p:sp>
      <p:sp>
        <p:nvSpPr>
          <p:cNvPr id="18" name="Text 16"/>
          <p:cNvSpPr txBox="1"/>
          <p:nvPr/>
        </p:nvSpPr>
        <p:spPr>
          <a:xfrm>
            <a:off x="6217920" y="1965960"/>
            <a:ext cx="2194560" cy="178308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Nothing extra to do. The sorting happens inside the same array, so the pivot is already in its final place.</a:t>
            </a:r>
            <a:endParaRPr lang="en-US" sz="1300" dirty="0"/>
          </a:p>
        </p:txBody>
      </p:sp>
      <p:sp>
        <p:nvSpPr>
          <p:cNvPr id="19" name="Text 17"/>
          <p:cNvSpPr txBox="1"/>
          <p:nvPr/>
        </p:nvSpPr>
        <p:spPr>
          <a:xfrm>
            <a:off x="548640" y="4114800"/>
            <a:ext cx="8046720" cy="365760"/>
          </a:xfrm>
          <a:prstGeom prst="rect">
            <a:avLst/>
          </a:prstGeom>
          <a:noFill/>
          <a:ln/>
        </p:spPr>
        <p:txBody>
          <a:bodyPr wrap="square" lIns="0" tIns="0" rIns="0" bIns="0" rtlCol="0" anchor="ctr"/>
          <a:lstStyle/>
          <a:p>
            <a:pPr algn="ctr" indent="0" marL="0">
              <a:buNone/>
            </a:pPr>
            <a:r>
              <a:rPr lang="en-US" sz="1800" b="1" dirty="0">
                <a:solidFill>
                  <a:schemeClr val="accent2"/>
                </a:solidFill>
              </a:rPr>
              <a:t>Easy memory trick: Pick → Partition → Repeat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3. Example: Partition the Array</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Input: [10, 7, 8, 9, 1, 5]   |   pivot = last element = 5</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Text 5"/>
          <p:cNvSpPr txBox="1"/>
          <p:nvPr/>
        </p:nvSpPr>
        <p:spPr>
          <a:xfrm>
            <a:off x="548640" y="1325880"/>
            <a:ext cx="3931920" cy="274320"/>
          </a:xfrm>
          <a:prstGeom prst="rect">
            <a:avLst/>
          </a:prstGeom>
          <a:noFill/>
          <a:ln/>
        </p:spPr>
        <p:txBody>
          <a:bodyPr wrap="square" lIns="0" tIns="0" rIns="0" bIns="0" rtlCol="0" anchor="ctr"/>
          <a:lstStyle/>
          <a:p>
            <a:pPr indent="0" marL="0">
              <a:buNone/>
            </a:pPr>
            <a:r>
              <a:rPr lang="en-US" sz="1200" b="1" dirty="0">
                <a:solidFill>
                  <a:schemeClr val="accent2"/>
                </a:solidFill>
              </a:rPr>
              <a:t>Start: pivot is the last element</a:t>
            </a:r>
            <a:endParaRPr lang="en-US" sz="1200" dirty="0"/>
          </a:p>
        </p:txBody>
      </p:sp>
      <p:sp>
        <p:nvSpPr>
          <p:cNvPr id="8" name="Shape 6"/>
          <p:cNvSpPr/>
          <p:nvPr/>
        </p:nvSpPr>
        <p:spPr>
          <a:xfrm>
            <a:off x="548640" y="1645920"/>
            <a:ext cx="548640" cy="502920"/>
          </a:xfrm>
          <a:prstGeom prst="roundRect">
            <a:avLst>
              <a:gd name="adj" fmla="val 14545"/>
            </a:avLst>
          </a:prstGeom>
          <a:solidFill>
            <a:srgbClr val="FFFFFF"/>
          </a:solidFill>
          <a:ln w="19050">
            <a:solidFill>
              <a:srgbClr val="B9B3A6"/>
            </a:solidFill>
            <a:prstDash val="solid"/>
          </a:ln>
        </p:spPr>
      </p:sp>
      <p:sp>
        <p:nvSpPr>
          <p:cNvPr id="9" name="Text 7"/>
          <p:cNvSpPr txBox="1"/>
          <p:nvPr/>
        </p:nvSpPr>
        <p:spPr>
          <a:xfrm>
            <a:off x="548640" y="1645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10" name="Shape 8"/>
          <p:cNvSpPr/>
          <p:nvPr/>
        </p:nvSpPr>
        <p:spPr>
          <a:xfrm>
            <a:off x="1188720" y="1645920"/>
            <a:ext cx="548640" cy="502920"/>
          </a:xfrm>
          <a:prstGeom prst="roundRect">
            <a:avLst>
              <a:gd name="adj" fmla="val 14545"/>
            </a:avLst>
          </a:prstGeom>
          <a:solidFill>
            <a:srgbClr val="FFFFFF"/>
          </a:solidFill>
          <a:ln w="19050">
            <a:solidFill>
              <a:srgbClr val="B9B3A6"/>
            </a:solidFill>
            <a:prstDash val="solid"/>
          </a:ln>
        </p:spPr>
      </p:sp>
      <p:sp>
        <p:nvSpPr>
          <p:cNvPr id="11" name="Text 9"/>
          <p:cNvSpPr txBox="1"/>
          <p:nvPr/>
        </p:nvSpPr>
        <p:spPr>
          <a:xfrm>
            <a:off x="1188720" y="1645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12" name="Shape 10"/>
          <p:cNvSpPr/>
          <p:nvPr/>
        </p:nvSpPr>
        <p:spPr>
          <a:xfrm>
            <a:off x="1828800" y="1645920"/>
            <a:ext cx="548640" cy="502920"/>
          </a:xfrm>
          <a:prstGeom prst="roundRect">
            <a:avLst>
              <a:gd name="adj" fmla="val 14545"/>
            </a:avLst>
          </a:prstGeom>
          <a:solidFill>
            <a:srgbClr val="FFFFFF"/>
          </a:solidFill>
          <a:ln w="19050">
            <a:solidFill>
              <a:srgbClr val="B9B3A6"/>
            </a:solidFill>
            <a:prstDash val="solid"/>
          </a:ln>
        </p:spPr>
      </p:sp>
      <p:sp>
        <p:nvSpPr>
          <p:cNvPr id="13" name="Text 11"/>
          <p:cNvSpPr txBox="1"/>
          <p:nvPr/>
        </p:nvSpPr>
        <p:spPr>
          <a:xfrm>
            <a:off x="1828800" y="1645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14" name="Shape 12"/>
          <p:cNvSpPr/>
          <p:nvPr/>
        </p:nvSpPr>
        <p:spPr>
          <a:xfrm>
            <a:off x="2468880" y="1645920"/>
            <a:ext cx="548640" cy="502920"/>
          </a:xfrm>
          <a:prstGeom prst="roundRect">
            <a:avLst>
              <a:gd name="adj" fmla="val 14545"/>
            </a:avLst>
          </a:prstGeom>
          <a:solidFill>
            <a:srgbClr val="FFFFFF"/>
          </a:solidFill>
          <a:ln w="19050">
            <a:solidFill>
              <a:srgbClr val="B9B3A6"/>
            </a:solidFill>
            <a:prstDash val="solid"/>
          </a:ln>
        </p:spPr>
      </p:sp>
      <p:sp>
        <p:nvSpPr>
          <p:cNvPr id="15" name="Text 13"/>
          <p:cNvSpPr txBox="1"/>
          <p:nvPr/>
        </p:nvSpPr>
        <p:spPr>
          <a:xfrm>
            <a:off x="2468880" y="1645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16" name="Shape 14"/>
          <p:cNvSpPr/>
          <p:nvPr/>
        </p:nvSpPr>
        <p:spPr>
          <a:xfrm>
            <a:off x="3108960" y="1645920"/>
            <a:ext cx="548640" cy="502920"/>
          </a:xfrm>
          <a:prstGeom prst="roundRect">
            <a:avLst>
              <a:gd name="adj" fmla="val 14545"/>
            </a:avLst>
          </a:prstGeom>
          <a:solidFill>
            <a:srgbClr val="FFFFFF"/>
          </a:solidFill>
          <a:ln w="19050">
            <a:solidFill>
              <a:srgbClr val="B9B3A6"/>
            </a:solidFill>
            <a:prstDash val="solid"/>
          </a:ln>
        </p:spPr>
      </p:sp>
      <p:sp>
        <p:nvSpPr>
          <p:cNvPr id="17" name="Text 15"/>
          <p:cNvSpPr txBox="1"/>
          <p:nvPr/>
        </p:nvSpPr>
        <p:spPr>
          <a:xfrm>
            <a:off x="3108960" y="1645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a:t>
            </a:r>
            <a:endParaRPr lang="en-US" sz="1800" dirty="0"/>
          </a:p>
        </p:txBody>
      </p:sp>
      <p:sp>
        <p:nvSpPr>
          <p:cNvPr id="18" name="Shape 16"/>
          <p:cNvSpPr/>
          <p:nvPr/>
        </p:nvSpPr>
        <p:spPr>
          <a:xfrm>
            <a:off x="3749040" y="1645920"/>
            <a:ext cx="548640" cy="502920"/>
          </a:xfrm>
          <a:prstGeom prst="roundRect">
            <a:avLst>
              <a:gd name="adj" fmla="val 14545"/>
            </a:avLst>
          </a:prstGeom>
          <a:solidFill>
            <a:srgbClr val="FF8A3D"/>
          </a:solidFill>
          <a:ln w="19050">
            <a:solidFill>
              <a:srgbClr val="FF8A3D"/>
            </a:solidFill>
            <a:prstDash val="solid"/>
          </a:ln>
        </p:spPr>
      </p:sp>
      <p:sp>
        <p:nvSpPr>
          <p:cNvPr id="19" name="Text 17"/>
          <p:cNvSpPr txBox="1"/>
          <p:nvPr/>
        </p:nvSpPr>
        <p:spPr>
          <a:xfrm>
            <a:off x="3749040" y="16459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0" name="Text 18"/>
          <p:cNvSpPr txBox="1"/>
          <p:nvPr/>
        </p:nvSpPr>
        <p:spPr>
          <a:xfrm>
            <a:off x="54864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21" name="Text 19"/>
          <p:cNvSpPr txBox="1"/>
          <p:nvPr/>
        </p:nvSpPr>
        <p:spPr>
          <a:xfrm>
            <a:off x="118872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22" name="Text 20"/>
          <p:cNvSpPr txBox="1"/>
          <p:nvPr/>
        </p:nvSpPr>
        <p:spPr>
          <a:xfrm>
            <a:off x="182880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23" name="Text 21"/>
          <p:cNvSpPr txBox="1"/>
          <p:nvPr/>
        </p:nvSpPr>
        <p:spPr>
          <a:xfrm>
            <a:off x="246888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3</a:t>
            </a:r>
            <a:endParaRPr lang="en-US" sz="1000" dirty="0"/>
          </a:p>
        </p:txBody>
      </p:sp>
      <p:sp>
        <p:nvSpPr>
          <p:cNvPr id="24" name="Text 22"/>
          <p:cNvSpPr txBox="1"/>
          <p:nvPr/>
        </p:nvSpPr>
        <p:spPr>
          <a:xfrm>
            <a:off x="310896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25" name="Text 23"/>
          <p:cNvSpPr txBox="1"/>
          <p:nvPr/>
        </p:nvSpPr>
        <p:spPr>
          <a:xfrm>
            <a:off x="3749040" y="2167128"/>
            <a:ext cx="548640" cy="182880"/>
          </a:xfrm>
          <a:prstGeom prst="rect">
            <a:avLst/>
          </a:prstGeom>
          <a:noFill/>
          <a:ln/>
        </p:spPr>
        <p:txBody>
          <a:bodyPr wrap="square" lIns="0" tIns="0" rIns="0" bIns="0" rtlCol="0" anchor="ctr"/>
          <a:lstStyle/>
          <a:p>
            <a:pPr algn="ctr" indent="0" marL="0">
              <a:buNone/>
            </a:pPr>
            <a:r>
              <a:rPr lang="en-US" sz="1000" dirty="0">
                <a:solidFill>
                  <a:schemeClr val="accent6"/>
                </a:solidFill>
              </a:rPr>
              <a:t>5</a:t>
            </a:r>
            <a:endParaRPr lang="en-US" sz="1000" dirty="0"/>
          </a:p>
        </p:txBody>
      </p:sp>
      <p:sp>
        <p:nvSpPr>
          <p:cNvPr id="26" name="Text 24"/>
          <p:cNvSpPr txBox="1"/>
          <p:nvPr/>
        </p:nvSpPr>
        <p:spPr>
          <a:xfrm>
            <a:off x="548640" y="2514600"/>
            <a:ext cx="3931920" cy="274320"/>
          </a:xfrm>
          <a:prstGeom prst="rect">
            <a:avLst/>
          </a:prstGeom>
          <a:noFill/>
          <a:ln/>
        </p:spPr>
        <p:txBody>
          <a:bodyPr wrap="square" lIns="0" tIns="0" rIns="0" bIns="0" rtlCol="0" anchor="ctr"/>
          <a:lstStyle/>
          <a:p>
            <a:pPr indent="0" marL="0">
              <a:buNone/>
            </a:pPr>
            <a:r>
              <a:rPr lang="en-US" sz="1200" b="1" dirty="0">
                <a:solidFill>
                  <a:schemeClr val="accent2"/>
                </a:solidFill>
              </a:rPr>
              <a:t>After the loop: 1 is swapped to the front</a:t>
            </a:r>
            <a:endParaRPr lang="en-US" sz="1200" dirty="0"/>
          </a:p>
        </p:txBody>
      </p:sp>
      <p:sp>
        <p:nvSpPr>
          <p:cNvPr id="27" name="Shape 25"/>
          <p:cNvSpPr/>
          <p:nvPr/>
        </p:nvSpPr>
        <p:spPr>
          <a:xfrm>
            <a:off x="548640" y="2834640"/>
            <a:ext cx="548640" cy="502920"/>
          </a:xfrm>
          <a:prstGeom prst="roundRect">
            <a:avLst>
              <a:gd name="adj" fmla="val 14545"/>
            </a:avLst>
          </a:prstGeom>
          <a:solidFill>
            <a:srgbClr val="4CAF72"/>
          </a:solidFill>
          <a:ln w="19050">
            <a:solidFill>
              <a:srgbClr val="4CAF72"/>
            </a:solidFill>
            <a:prstDash val="solid"/>
          </a:ln>
        </p:spPr>
      </p:sp>
      <p:sp>
        <p:nvSpPr>
          <p:cNvPr id="28" name="Text 26"/>
          <p:cNvSpPr txBox="1"/>
          <p:nvPr/>
        </p:nvSpPr>
        <p:spPr>
          <a:xfrm>
            <a:off x="548640" y="28346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29" name="Shape 27"/>
          <p:cNvSpPr/>
          <p:nvPr/>
        </p:nvSpPr>
        <p:spPr>
          <a:xfrm>
            <a:off x="1188720" y="2834640"/>
            <a:ext cx="548640" cy="502920"/>
          </a:xfrm>
          <a:prstGeom prst="roundRect">
            <a:avLst>
              <a:gd name="adj" fmla="val 14545"/>
            </a:avLst>
          </a:prstGeom>
          <a:solidFill>
            <a:srgbClr val="FFFFFF"/>
          </a:solidFill>
          <a:ln w="19050">
            <a:solidFill>
              <a:srgbClr val="B9B3A6"/>
            </a:solidFill>
            <a:prstDash val="solid"/>
          </a:ln>
        </p:spPr>
      </p:sp>
      <p:sp>
        <p:nvSpPr>
          <p:cNvPr id="30" name="Text 28"/>
          <p:cNvSpPr txBox="1"/>
          <p:nvPr/>
        </p:nvSpPr>
        <p:spPr>
          <a:xfrm>
            <a:off x="1188720" y="283464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31" name="Shape 29"/>
          <p:cNvSpPr/>
          <p:nvPr/>
        </p:nvSpPr>
        <p:spPr>
          <a:xfrm>
            <a:off x="1828800" y="2834640"/>
            <a:ext cx="548640" cy="502920"/>
          </a:xfrm>
          <a:prstGeom prst="roundRect">
            <a:avLst>
              <a:gd name="adj" fmla="val 14545"/>
            </a:avLst>
          </a:prstGeom>
          <a:solidFill>
            <a:srgbClr val="FFFFFF"/>
          </a:solidFill>
          <a:ln w="19050">
            <a:solidFill>
              <a:srgbClr val="B9B3A6"/>
            </a:solidFill>
            <a:prstDash val="solid"/>
          </a:ln>
        </p:spPr>
      </p:sp>
      <p:sp>
        <p:nvSpPr>
          <p:cNvPr id="32" name="Text 30"/>
          <p:cNvSpPr txBox="1"/>
          <p:nvPr/>
        </p:nvSpPr>
        <p:spPr>
          <a:xfrm>
            <a:off x="1828800" y="283464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33" name="Shape 31"/>
          <p:cNvSpPr/>
          <p:nvPr/>
        </p:nvSpPr>
        <p:spPr>
          <a:xfrm>
            <a:off x="2468880" y="2834640"/>
            <a:ext cx="548640" cy="502920"/>
          </a:xfrm>
          <a:prstGeom prst="roundRect">
            <a:avLst>
              <a:gd name="adj" fmla="val 14545"/>
            </a:avLst>
          </a:prstGeom>
          <a:solidFill>
            <a:srgbClr val="FFFFFF"/>
          </a:solidFill>
          <a:ln w="19050">
            <a:solidFill>
              <a:srgbClr val="B9B3A6"/>
            </a:solidFill>
            <a:prstDash val="solid"/>
          </a:ln>
        </p:spPr>
      </p:sp>
      <p:sp>
        <p:nvSpPr>
          <p:cNvPr id="34" name="Text 32"/>
          <p:cNvSpPr txBox="1"/>
          <p:nvPr/>
        </p:nvSpPr>
        <p:spPr>
          <a:xfrm>
            <a:off x="2468880" y="283464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35" name="Shape 33"/>
          <p:cNvSpPr/>
          <p:nvPr/>
        </p:nvSpPr>
        <p:spPr>
          <a:xfrm>
            <a:off x="3108960" y="2834640"/>
            <a:ext cx="548640" cy="502920"/>
          </a:xfrm>
          <a:prstGeom prst="roundRect">
            <a:avLst>
              <a:gd name="adj" fmla="val 14545"/>
            </a:avLst>
          </a:prstGeom>
          <a:solidFill>
            <a:srgbClr val="FFFFFF"/>
          </a:solidFill>
          <a:ln w="19050">
            <a:solidFill>
              <a:srgbClr val="B9B3A6"/>
            </a:solidFill>
            <a:prstDash val="solid"/>
          </a:ln>
        </p:spPr>
      </p:sp>
      <p:sp>
        <p:nvSpPr>
          <p:cNvPr id="36" name="Text 34"/>
          <p:cNvSpPr txBox="1"/>
          <p:nvPr/>
        </p:nvSpPr>
        <p:spPr>
          <a:xfrm>
            <a:off x="3108960" y="283464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37" name="Shape 35"/>
          <p:cNvSpPr/>
          <p:nvPr/>
        </p:nvSpPr>
        <p:spPr>
          <a:xfrm>
            <a:off x="3749040" y="2834640"/>
            <a:ext cx="548640" cy="502920"/>
          </a:xfrm>
          <a:prstGeom prst="roundRect">
            <a:avLst>
              <a:gd name="adj" fmla="val 14545"/>
            </a:avLst>
          </a:prstGeom>
          <a:solidFill>
            <a:srgbClr val="FF8A3D"/>
          </a:solidFill>
          <a:ln w="19050">
            <a:solidFill>
              <a:srgbClr val="FF8A3D"/>
            </a:solidFill>
            <a:prstDash val="solid"/>
          </a:ln>
        </p:spPr>
      </p:sp>
      <p:sp>
        <p:nvSpPr>
          <p:cNvPr id="38" name="Text 36"/>
          <p:cNvSpPr txBox="1"/>
          <p:nvPr/>
        </p:nvSpPr>
        <p:spPr>
          <a:xfrm>
            <a:off x="3749040" y="28346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9" name="Text 37"/>
          <p:cNvSpPr txBox="1"/>
          <p:nvPr/>
        </p:nvSpPr>
        <p:spPr>
          <a:xfrm>
            <a:off x="548640" y="3520440"/>
            <a:ext cx="3931920" cy="274320"/>
          </a:xfrm>
          <a:prstGeom prst="rect">
            <a:avLst/>
          </a:prstGeom>
          <a:noFill/>
          <a:ln/>
        </p:spPr>
        <p:txBody>
          <a:bodyPr wrap="square" lIns="0" tIns="0" rIns="0" bIns="0" rtlCol="0" anchor="ctr"/>
          <a:lstStyle/>
          <a:p>
            <a:pPr indent="0" marL="0">
              <a:buNone/>
            </a:pPr>
            <a:r>
              <a:rPr lang="en-US" sz="1200" b="1" dirty="0">
                <a:solidFill>
                  <a:schemeClr val="accent2"/>
                </a:solidFill>
              </a:rPr>
              <a:t>Place the pivot: swap it with arr[i+1]</a:t>
            </a:r>
            <a:endParaRPr lang="en-US" sz="1200" dirty="0"/>
          </a:p>
        </p:txBody>
      </p:sp>
      <p:sp>
        <p:nvSpPr>
          <p:cNvPr id="40" name="Shape 38"/>
          <p:cNvSpPr/>
          <p:nvPr/>
        </p:nvSpPr>
        <p:spPr>
          <a:xfrm>
            <a:off x="548640" y="3840480"/>
            <a:ext cx="548640" cy="502920"/>
          </a:xfrm>
          <a:prstGeom prst="roundRect">
            <a:avLst>
              <a:gd name="adj" fmla="val 14545"/>
            </a:avLst>
          </a:prstGeom>
          <a:solidFill>
            <a:srgbClr val="4CAF72"/>
          </a:solidFill>
          <a:ln w="19050">
            <a:solidFill>
              <a:srgbClr val="4CAF72"/>
            </a:solidFill>
            <a:prstDash val="solid"/>
          </a:ln>
        </p:spPr>
      </p:sp>
      <p:sp>
        <p:nvSpPr>
          <p:cNvPr id="41" name="Text 39"/>
          <p:cNvSpPr txBox="1"/>
          <p:nvPr/>
        </p:nvSpPr>
        <p:spPr>
          <a:xfrm>
            <a:off x="548640" y="38404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42" name="Shape 40"/>
          <p:cNvSpPr/>
          <p:nvPr/>
        </p:nvSpPr>
        <p:spPr>
          <a:xfrm>
            <a:off x="1188720" y="3840480"/>
            <a:ext cx="548640" cy="502920"/>
          </a:xfrm>
          <a:prstGeom prst="roundRect">
            <a:avLst>
              <a:gd name="adj" fmla="val 14545"/>
            </a:avLst>
          </a:prstGeom>
          <a:solidFill>
            <a:srgbClr val="FF8A3D"/>
          </a:solidFill>
          <a:ln w="19050">
            <a:solidFill>
              <a:srgbClr val="FF8A3D"/>
            </a:solidFill>
            <a:prstDash val="solid"/>
          </a:ln>
        </p:spPr>
      </p:sp>
      <p:sp>
        <p:nvSpPr>
          <p:cNvPr id="43" name="Text 41"/>
          <p:cNvSpPr txBox="1"/>
          <p:nvPr/>
        </p:nvSpPr>
        <p:spPr>
          <a:xfrm>
            <a:off x="1188720" y="38404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44" name="Shape 42"/>
          <p:cNvSpPr/>
          <p:nvPr/>
        </p:nvSpPr>
        <p:spPr>
          <a:xfrm>
            <a:off x="1828800" y="3840480"/>
            <a:ext cx="548640" cy="502920"/>
          </a:xfrm>
          <a:prstGeom prst="roundRect">
            <a:avLst>
              <a:gd name="adj" fmla="val 14545"/>
            </a:avLst>
          </a:prstGeom>
          <a:solidFill>
            <a:srgbClr val="FFFFFF"/>
          </a:solidFill>
          <a:ln w="19050">
            <a:solidFill>
              <a:srgbClr val="B9B3A6"/>
            </a:solidFill>
            <a:prstDash val="solid"/>
          </a:ln>
        </p:spPr>
      </p:sp>
      <p:sp>
        <p:nvSpPr>
          <p:cNvPr id="45" name="Text 43"/>
          <p:cNvSpPr txBox="1"/>
          <p:nvPr/>
        </p:nvSpPr>
        <p:spPr>
          <a:xfrm>
            <a:off x="1828800" y="38404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46" name="Shape 44"/>
          <p:cNvSpPr/>
          <p:nvPr/>
        </p:nvSpPr>
        <p:spPr>
          <a:xfrm>
            <a:off x="2468880" y="3840480"/>
            <a:ext cx="548640" cy="502920"/>
          </a:xfrm>
          <a:prstGeom prst="roundRect">
            <a:avLst>
              <a:gd name="adj" fmla="val 14545"/>
            </a:avLst>
          </a:prstGeom>
          <a:solidFill>
            <a:srgbClr val="FFFFFF"/>
          </a:solidFill>
          <a:ln w="19050">
            <a:solidFill>
              <a:srgbClr val="B9B3A6"/>
            </a:solidFill>
            <a:prstDash val="solid"/>
          </a:ln>
        </p:spPr>
      </p:sp>
      <p:sp>
        <p:nvSpPr>
          <p:cNvPr id="47" name="Text 45"/>
          <p:cNvSpPr txBox="1"/>
          <p:nvPr/>
        </p:nvSpPr>
        <p:spPr>
          <a:xfrm>
            <a:off x="2468880" y="38404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48" name="Shape 46"/>
          <p:cNvSpPr/>
          <p:nvPr/>
        </p:nvSpPr>
        <p:spPr>
          <a:xfrm>
            <a:off x="3108960" y="3840480"/>
            <a:ext cx="548640" cy="502920"/>
          </a:xfrm>
          <a:prstGeom prst="roundRect">
            <a:avLst>
              <a:gd name="adj" fmla="val 14545"/>
            </a:avLst>
          </a:prstGeom>
          <a:solidFill>
            <a:srgbClr val="FFFFFF"/>
          </a:solidFill>
          <a:ln w="19050">
            <a:solidFill>
              <a:srgbClr val="B9B3A6"/>
            </a:solidFill>
            <a:prstDash val="solid"/>
          </a:ln>
        </p:spPr>
      </p:sp>
      <p:sp>
        <p:nvSpPr>
          <p:cNvPr id="49" name="Text 47"/>
          <p:cNvSpPr txBox="1"/>
          <p:nvPr/>
        </p:nvSpPr>
        <p:spPr>
          <a:xfrm>
            <a:off x="3108960" y="38404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50" name="Shape 48"/>
          <p:cNvSpPr/>
          <p:nvPr/>
        </p:nvSpPr>
        <p:spPr>
          <a:xfrm>
            <a:off x="3749040" y="3840480"/>
            <a:ext cx="548640" cy="502920"/>
          </a:xfrm>
          <a:prstGeom prst="roundRect">
            <a:avLst>
              <a:gd name="adj" fmla="val 14545"/>
            </a:avLst>
          </a:prstGeom>
          <a:solidFill>
            <a:srgbClr val="FFFFFF"/>
          </a:solidFill>
          <a:ln w="19050">
            <a:solidFill>
              <a:srgbClr val="B9B3A6"/>
            </a:solidFill>
            <a:prstDash val="solid"/>
          </a:ln>
        </p:spPr>
      </p:sp>
      <p:sp>
        <p:nvSpPr>
          <p:cNvPr id="51" name="Text 49"/>
          <p:cNvSpPr txBox="1"/>
          <p:nvPr/>
        </p:nvSpPr>
        <p:spPr>
          <a:xfrm>
            <a:off x="3749040" y="38404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52" name="Shape 50"/>
          <p:cNvSpPr/>
          <p:nvPr/>
        </p:nvSpPr>
        <p:spPr>
          <a:xfrm>
            <a:off x="4754880" y="1325880"/>
            <a:ext cx="3840480" cy="1005840"/>
          </a:xfrm>
          <a:prstGeom prst="roundRect">
            <a:avLst>
              <a:gd name="adj" fmla="val 9091"/>
            </a:avLst>
          </a:prstGeom>
          <a:solidFill>
            <a:schemeClr val="bg1"/>
          </a:solidFill>
          <a:ln w="12700">
            <a:solidFill>
              <a:srgbClr val="E3DED4"/>
            </a:solidFill>
            <a:prstDash val="solid"/>
          </a:ln>
        </p:spPr>
      </p:sp>
      <p:sp>
        <p:nvSpPr>
          <p:cNvPr id="53" name="Shape 51"/>
          <p:cNvSpPr/>
          <p:nvPr/>
        </p:nvSpPr>
        <p:spPr>
          <a:xfrm>
            <a:off x="4892040" y="1325880"/>
            <a:ext cx="3566160" cy="64008"/>
          </a:xfrm>
          <a:prstGeom prst="rect">
            <a:avLst/>
          </a:prstGeom>
          <a:solidFill>
            <a:schemeClr val="accent1"/>
          </a:solidFill>
          <a:ln w="12700">
            <a:solidFill>
              <a:schemeClr val="accent1"/>
            </a:solidFill>
            <a:prstDash val="solid"/>
          </a:ln>
        </p:spPr>
      </p:sp>
      <p:sp>
        <p:nvSpPr>
          <p:cNvPr id="54" name="Text 52"/>
          <p:cNvSpPr txBox="1"/>
          <p:nvPr/>
        </p:nvSpPr>
        <p:spPr>
          <a:xfrm>
            <a:off x="4937760" y="1508760"/>
            <a:ext cx="3474720" cy="365760"/>
          </a:xfrm>
          <a:prstGeom prst="rect">
            <a:avLst/>
          </a:prstGeom>
          <a:noFill/>
          <a:ln/>
        </p:spPr>
        <p:txBody>
          <a:bodyPr wrap="square" lIns="0" tIns="0" rIns="0" bIns="0" rtlCol="0" anchor="ctr"/>
          <a:lstStyle/>
          <a:p>
            <a:pPr indent="0" marL="0">
              <a:buNone/>
            </a:pPr>
            <a:r>
              <a:rPr lang="en-US" sz="1400" b="1" dirty="0">
                <a:solidFill>
                  <a:schemeClr val="tx1"/>
                </a:solidFill>
              </a:rPr>
              <a:t>Scan j from low to high-1</a:t>
            </a:r>
            <a:endParaRPr lang="en-US" sz="1400" dirty="0"/>
          </a:p>
        </p:txBody>
      </p:sp>
      <p:sp>
        <p:nvSpPr>
          <p:cNvPr id="55" name="Text 53"/>
          <p:cNvSpPr txBox="1"/>
          <p:nvPr/>
        </p:nvSpPr>
        <p:spPr>
          <a:xfrm>
            <a:off x="4937760" y="1828800"/>
            <a:ext cx="3474720" cy="4114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Values greater than 5 are skipped: 10, 7, 8, 9.</a:t>
            </a:r>
            <a:endParaRPr lang="en-US" sz="1200" dirty="0"/>
          </a:p>
        </p:txBody>
      </p:sp>
      <p:sp>
        <p:nvSpPr>
          <p:cNvPr id="56" name="Shape 54"/>
          <p:cNvSpPr/>
          <p:nvPr/>
        </p:nvSpPr>
        <p:spPr>
          <a:xfrm>
            <a:off x="4754880" y="2468880"/>
            <a:ext cx="3840480" cy="1005840"/>
          </a:xfrm>
          <a:prstGeom prst="roundRect">
            <a:avLst>
              <a:gd name="adj" fmla="val 9091"/>
            </a:avLst>
          </a:prstGeom>
          <a:solidFill>
            <a:schemeClr val="bg1"/>
          </a:solidFill>
          <a:ln w="12700">
            <a:solidFill>
              <a:srgbClr val="E3DED4"/>
            </a:solidFill>
            <a:prstDash val="solid"/>
          </a:ln>
        </p:spPr>
      </p:sp>
      <p:sp>
        <p:nvSpPr>
          <p:cNvPr id="57" name="Shape 55"/>
          <p:cNvSpPr/>
          <p:nvPr/>
        </p:nvSpPr>
        <p:spPr>
          <a:xfrm>
            <a:off x="4892040" y="2468880"/>
            <a:ext cx="3566160" cy="64008"/>
          </a:xfrm>
          <a:prstGeom prst="rect">
            <a:avLst/>
          </a:prstGeom>
          <a:solidFill>
            <a:schemeClr val="accent2"/>
          </a:solidFill>
          <a:ln w="12700">
            <a:solidFill>
              <a:schemeClr val="accent2"/>
            </a:solidFill>
            <a:prstDash val="solid"/>
          </a:ln>
        </p:spPr>
      </p:sp>
      <p:sp>
        <p:nvSpPr>
          <p:cNvPr id="58" name="Text 56"/>
          <p:cNvSpPr txBox="1"/>
          <p:nvPr/>
        </p:nvSpPr>
        <p:spPr>
          <a:xfrm>
            <a:off x="4937760" y="2651760"/>
            <a:ext cx="3474720" cy="365760"/>
          </a:xfrm>
          <a:prstGeom prst="rect">
            <a:avLst/>
          </a:prstGeom>
          <a:noFill/>
          <a:ln/>
        </p:spPr>
        <p:txBody>
          <a:bodyPr wrap="square" lIns="0" tIns="0" rIns="0" bIns="0" rtlCol="0" anchor="ctr"/>
          <a:lstStyle/>
          <a:p>
            <a:pPr indent="0" marL="0">
              <a:buNone/>
            </a:pPr>
            <a:r>
              <a:rPr lang="en-US" sz="1400" b="1" dirty="0">
                <a:solidFill>
                  <a:schemeClr val="tx1"/>
                </a:solidFill>
              </a:rPr>
              <a:t>1 is less than or equal to 5</a:t>
            </a:r>
            <a:endParaRPr lang="en-US" sz="1400" dirty="0"/>
          </a:p>
        </p:txBody>
      </p:sp>
      <p:sp>
        <p:nvSpPr>
          <p:cNvPr id="59" name="Text 57"/>
          <p:cNvSpPr txBox="1"/>
          <p:nvPr/>
        </p:nvSpPr>
        <p:spPr>
          <a:xfrm>
            <a:off x="4937760" y="2971800"/>
            <a:ext cx="3474720" cy="4114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i becomes 0, so arr[0] and arr[4] are swapped.</a:t>
            </a:r>
            <a:endParaRPr lang="en-US" sz="1200" dirty="0"/>
          </a:p>
        </p:txBody>
      </p:sp>
      <p:sp>
        <p:nvSpPr>
          <p:cNvPr id="60" name="Shape 58"/>
          <p:cNvSpPr/>
          <p:nvPr/>
        </p:nvSpPr>
        <p:spPr>
          <a:xfrm>
            <a:off x="4754880" y="3611880"/>
            <a:ext cx="3840480" cy="1005840"/>
          </a:xfrm>
          <a:prstGeom prst="roundRect">
            <a:avLst>
              <a:gd name="adj" fmla="val 9091"/>
            </a:avLst>
          </a:prstGeom>
          <a:solidFill>
            <a:schemeClr val="bg1"/>
          </a:solidFill>
          <a:ln w="12700">
            <a:solidFill>
              <a:srgbClr val="E3DED4"/>
            </a:solidFill>
            <a:prstDash val="solid"/>
          </a:ln>
        </p:spPr>
      </p:sp>
      <p:sp>
        <p:nvSpPr>
          <p:cNvPr id="61" name="Shape 59"/>
          <p:cNvSpPr/>
          <p:nvPr/>
        </p:nvSpPr>
        <p:spPr>
          <a:xfrm>
            <a:off x="4892040" y="3611880"/>
            <a:ext cx="3566160" cy="64008"/>
          </a:xfrm>
          <a:prstGeom prst="rect">
            <a:avLst/>
          </a:prstGeom>
          <a:solidFill>
            <a:schemeClr val="accent3"/>
          </a:solidFill>
          <a:ln w="12700">
            <a:solidFill>
              <a:schemeClr val="accent3"/>
            </a:solidFill>
            <a:prstDash val="solid"/>
          </a:ln>
        </p:spPr>
      </p:sp>
      <p:sp>
        <p:nvSpPr>
          <p:cNvPr id="62" name="Text 60"/>
          <p:cNvSpPr txBox="1"/>
          <p:nvPr/>
        </p:nvSpPr>
        <p:spPr>
          <a:xfrm>
            <a:off x="4937760" y="3794760"/>
            <a:ext cx="3474720" cy="365760"/>
          </a:xfrm>
          <a:prstGeom prst="rect">
            <a:avLst/>
          </a:prstGeom>
          <a:noFill/>
          <a:ln/>
        </p:spPr>
        <p:txBody>
          <a:bodyPr wrap="square" lIns="0" tIns="0" rIns="0" bIns="0" rtlCol="0" anchor="ctr"/>
          <a:lstStyle/>
          <a:p>
            <a:pPr indent="0" marL="0">
              <a:buNone/>
            </a:pPr>
            <a:r>
              <a:rPr lang="en-US" sz="1400" b="1" dirty="0">
                <a:solidFill>
                  <a:schemeClr val="tx1"/>
                </a:solidFill>
              </a:rPr>
              <a:t>Pivot lands at index 1</a:t>
            </a:r>
            <a:endParaRPr lang="en-US" sz="1400" dirty="0"/>
          </a:p>
        </p:txBody>
      </p:sp>
      <p:sp>
        <p:nvSpPr>
          <p:cNvPr id="63" name="Text 61"/>
          <p:cNvSpPr txBox="1"/>
          <p:nvPr/>
        </p:nvSpPr>
        <p:spPr>
          <a:xfrm>
            <a:off x="4937760" y="4114800"/>
            <a:ext cx="3474720" cy="4114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Swap arr[1] and arr[5]: pi = 1. Left is [1], right is [8, 9, 10,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4. Example: Keep Repeating</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Each call places one pivot in its final position</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Text 5"/>
          <p:cNvSpPr txBox="1"/>
          <p:nvPr/>
        </p:nvSpPr>
        <p:spPr>
          <a:xfrm>
            <a:off x="548640" y="1325880"/>
            <a:ext cx="2377440" cy="256032"/>
          </a:xfrm>
          <a:prstGeom prst="rect">
            <a:avLst/>
          </a:prstGeom>
          <a:noFill/>
          <a:ln/>
        </p:spPr>
        <p:txBody>
          <a:bodyPr wrap="square" lIns="0" tIns="0" rIns="0" bIns="0" rtlCol="0" anchor="ctr"/>
          <a:lstStyle/>
          <a:p>
            <a:pPr indent="0" marL="0">
              <a:buNone/>
            </a:pPr>
            <a:r>
              <a:rPr lang="en-US" sz="1400" b="1" dirty="0">
                <a:solidFill>
                  <a:schemeClr val="tx1"/>
                </a:solidFill>
              </a:rPr>
              <a:t>quickSort(0, 5)</a:t>
            </a:r>
            <a:endParaRPr lang="en-US" sz="1400" dirty="0"/>
          </a:p>
        </p:txBody>
      </p:sp>
      <p:sp>
        <p:nvSpPr>
          <p:cNvPr id="8" name="Text 6"/>
          <p:cNvSpPr txBox="1"/>
          <p:nvPr/>
        </p:nvSpPr>
        <p:spPr>
          <a:xfrm>
            <a:off x="548640" y="1581912"/>
            <a:ext cx="2377440" cy="228600"/>
          </a:xfrm>
          <a:prstGeom prst="rect">
            <a:avLst/>
          </a:prstGeom>
          <a:noFill/>
          <a:ln/>
        </p:spPr>
        <p:txBody>
          <a:bodyPr wrap="square" lIns="0" tIns="0" rIns="0" bIns="0" rtlCol="0" anchor="ctr"/>
          <a:lstStyle/>
          <a:p>
            <a:pPr indent="0" marL="0">
              <a:buNone/>
            </a:pPr>
            <a:r>
              <a:rPr lang="en-US" sz="1200" dirty="0">
                <a:solidFill>
                  <a:schemeClr val="accent6"/>
                </a:solidFill>
              </a:rPr>
              <a:t>pivot = 5</a:t>
            </a:r>
            <a:endParaRPr lang="en-US" sz="1200" dirty="0"/>
          </a:p>
        </p:txBody>
      </p:sp>
      <p:sp>
        <p:nvSpPr>
          <p:cNvPr id="9" name="Shape 7"/>
          <p:cNvSpPr/>
          <p:nvPr/>
        </p:nvSpPr>
        <p:spPr>
          <a:xfrm>
            <a:off x="3017520" y="1325880"/>
            <a:ext cx="548640" cy="502920"/>
          </a:xfrm>
          <a:prstGeom prst="roundRect">
            <a:avLst>
              <a:gd name="adj" fmla="val 14545"/>
            </a:avLst>
          </a:prstGeom>
          <a:solidFill>
            <a:srgbClr val="4CAF72"/>
          </a:solidFill>
          <a:ln w="19050">
            <a:solidFill>
              <a:srgbClr val="4CAF72"/>
            </a:solidFill>
            <a:prstDash val="solid"/>
          </a:ln>
        </p:spPr>
      </p:sp>
      <p:sp>
        <p:nvSpPr>
          <p:cNvPr id="10" name="Text 8"/>
          <p:cNvSpPr txBox="1"/>
          <p:nvPr/>
        </p:nvSpPr>
        <p:spPr>
          <a:xfrm>
            <a:off x="3017520" y="13258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Shape 9"/>
          <p:cNvSpPr/>
          <p:nvPr/>
        </p:nvSpPr>
        <p:spPr>
          <a:xfrm>
            <a:off x="3657600" y="1325880"/>
            <a:ext cx="548640" cy="502920"/>
          </a:xfrm>
          <a:prstGeom prst="roundRect">
            <a:avLst>
              <a:gd name="adj" fmla="val 14545"/>
            </a:avLst>
          </a:prstGeom>
          <a:solidFill>
            <a:srgbClr val="FF8A3D"/>
          </a:solidFill>
          <a:ln w="19050">
            <a:solidFill>
              <a:srgbClr val="FF8A3D"/>
            </a:solidFill>
            <a:prstDash val="solid"/>
          </a:ln>
        </p:spPr>
      </p:sp>
      <p:sp>
        <p:nvSpPr>
          <p:cNvPr id="12" name="Text 10"/>
          <p:cNvSpPr txBox="1"/>
          <p:nvPr/>
        </p:nvSpPr>
        <p:spPr>
          <a:xfrm>
            <a:off x="3657600" y="132588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3" name="Shape 11"/>
          <p:cNvSpPr/>
          <p:nvPr/>
        </p:nvSpPr>
        <p:spPr>
          <a:xfrm>
            <a:off x="4297680" y="1325880"/>
            <a:ext cx="548640" cy="502920"/>
          </a:xfrm>
          <a:prstGeom prst="roundRect">
            <a:avLst>
              <a:gd name="adj" fmla="val 14545"/>
            </a:avLst>
          </a:prstGeom>
          <a:solidFill>
            <a:srgbClr val="FFFFFF"/>
          </a:solidFill>
          <a:ln w="19050">
            <a:solidFill>
              <a:srgbClr val="B9B3A6"/>
            </a:solidFill>
            <a:prstDash val="solid"/>
          </a:ln>
        </p:spPr>
      </p:sp>
      <p:sp>
        <p:nvSpPr>
          <p:cNvPr id="14" name="Text 12"/>
          <p:cNvSpPr txBox="1"/>
          <p:nvPr/>
        </p:nvSpPr>
        <p:spPr>
          <a:xfrm>
            <a:off x="4297680" y="13258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15" name="Shape 13"/>
          <p:cNvSpPr/>
          <p:nvPr/>
        </p:nvSpPr>
        <p:spPr>
          <a:xfrm>
            <a:off x="4937760" y="1325880"/>
            <a:ext cx="548640" cy="502920"/>
          </a:xfrm>
          <a:prstGeom prst="roundRect">
            <a:avLst>
              <a:gd name="adj" fmla="val 14545"/>
            </a:avLst>
          </a:prstGeom>
          <a:solidFill>
            <a:srgbClr val="FFFFFF"/>
          </a:solidFill>
          <a:ln w="19050">
            <a:solidFill>
              <a:srgbClr val="B9B3A6"/>
            </a:solidFill>
            <a:prstDash val="solid"/>
          </a:ln>
        </p:spPr>
      </p:sp>
      <p:sp>
        <p:nvSpPr>
          <p:cNvPr id="16" name="Text 14"/>
          <p:cNvSpPr txBox="1"/>
          <p:nvPr/>
        </p:nvSpPr>
        <p:spPr>
          <a:xfrm>
            <a:off x="4937760" y="13258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17" name="Shape 15"/>
          <p:cNvSpPr/>
          <p:nvPr/>
        </p:nvSpPr>
        <p:spPr>
          <a:xfrm>
            <a:off x="5577840" y="1325880"/>
            <a:ext cx="548640" cy="502920"/>
          </a:xfrm>
          <a:prstGeom prst="roundRect">
            <a:avLst>
              <a:gd name="adj" fmla="val 14545"/>
            </a:avLst>
          </a:prstGeom>
          <a:solidFill>
            <a:srgbClr val="FFFFFF"/>
          </a:solidFill>
          <a:ln w="19050">
            <a:solidFill>
              <a:srgbClr val="B9B3A6"/>
            </a:solidFill>
            <a:prstDash val="solid"/>
          </a:ln>
        </p:spPr>
      </p:sp>
      <p:sp>
        <p:nvSpPr>
          <p:cNvPr id="18" name="Text 16"/>
          <p:cNvSpPr txBox="1"/>
          <p:nvPr/>
        </p:nvSpPr>
        <p:spPr>
          <a:xfrm>
            <a:off x="5577840" y="13258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19" name="Shape 17"/>
          <p:cNvSpPr/>
          <p:nvPr/>
        </p:nvSpPr>
        <p:spPr>
          <a:xfrm>
            <a:off x="6217920" y="1325880"/>
            <a:ext cx="548640" cy="502920"/>
          </a:xfrm>
          <a:prstGeom prst="roundRect">
            <a:avLst>
              <a:gd name="adj" fmla="val 14545"/>
            </a:avLst>
          </a:prstGeom>
          <a:solidFill>
            <a:srgbClr val="FFFFFF"/>
          </a:solidFill>
          <a:ln w="19050">
            <a:solidFill>
              <a:srgbClr val="B9B3A6"/>
            </a:solidFill>
            <a:prstDash val="solid"/>
          </a:ln>
        </p:spPr>
      </p:sp>
      <p:sp>
        <p:nvSpPr>
          <p:cNvPr id="20" name="Text 18"/>
          <p:cNvSpPr txBox="1"/>
          <p:nvPr/>
        </p:nvSpPr>
        <p:spPr>
          <a:xfrm>
            <a:off x="6217920" y="132588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7</a:t>
            </a:r>
            <a:endParaRPr lang="en-US" sz="1800" dirty="0"/>
          </a:p>
        </p:txBody>
      </p:sp>
      <p:sp>
        <p:nvSpPr>
          <p:cNvPr id="21" name="Text 19"/>
          <p:cNvSpPr txBox="1"/>
          <p:nvPr/>
        </p:nvSpPr>
        <p:spPr>
          <a:xfrm>
            <a:off x="7040880" y="1325880"/>
            <a:ext cx="1554480" cy="502920"/>
          </a:xfrm>
          <a:prstGeom prst="rect">
            <a:avLst/>
          </a:prstGeom>
          <a:noFill/>
          <a:ln/>
        </p:spPr>
        <p:txBody>
          <a:bodyPr wrap="square" lIns="0" tIns="0" rIns="0" bIns="0" rtlCol="0" anchor="ctr"/>
          <a:lstStyle/>
          <a:p>
            <a:pPr indent="0" marL="0">
              <a:buNone/>
            </a:pPr>
            <a:r>
              <a:rPr lang="en-US" sz="1400" b="1" dirty="0">
                <a:solidFill>
                  <a:schemeClr val="accent1"/>
                </a:solidFill>
              </a:rPr>
              <a:t>pi = 1</a:t>
            </a:r>
            <a:endParaRPr lang="en-US" sz="1400" dirty="0"/>
          </a:p>
        </p:txBody>
      </p:sp>
      <p:sp>
        <p:nvSpPr>
          <p:cNvPr id="22" name="Text 20"/>
          <p:cNvSpPr txBox="1"/>
          <p:nvPr/>
        </p:nvSpPr>
        <p:spPr>
          <a:xfrm>
            <a:off x="548640" y="2057400"/>
            <a:ext cx="2377440" cy="256032"/>
          </a:xfrm>
          <a:prstGeom prst="rect">
            <a:avLst/>
          </a:prstGeom>
          <a:noFill/>
          <a:ln/>
        </p:spPr>
        <p:txBody>
          <a:bodyPr wrap="square" lIns="0" tIns="0" rIns="0" bIns="0" rtlCol="0" anchor="ctr"/>
          <a:lstStyle/>
          <a:p>
            <a:pPr indent="0" marL="0">
              <a:buNone/>
            </a:pPr>
            <a:r>
              <a:rPr lang="en-US" sz="1400" b="1" dirty="0">
                <a:solidFill>
                  <a:schemeClr val="tx1"/>
                </a:solidFill>
              </a:rPr>
              <a:t>quickSort(2, 5)</a:t>
            </a:r>
            <a:endParaRPr lang="en-US" sz="1400" dirty="0"/>
          </a:p>
        </p:txBody>
      </p:sp>
      <p:sp>
        <p:nvSpPr>
          <p:cNvPr id="23" name="Text 21"/>
          <p:cNvSpPr txBox="1"/>
          <p:nvPr/>
        </p:nvSpPr>
        <p:spPr>
          <a:xfrm>
            <a:off x="548640" y="2313432"/>
            <a:ext cx="2377440" cy="228600"/>
          </a:xfrm>
          <a:prstGeom prst="rect">
            <a:avLst/>
          </a:prstGeom>
          <a:noFill/>
          <a:ln/>
        </p:spPr>
        <p:txBody>
          <a:bodyPr wrap="square" lIns="0" tIns="0" rIns="0" bIns="0" rtlCol="0" anchor="ctr"/>
          <a:lstStyle/>
          <a:p>
            <a:pPr indent="0" marL="0">
              <a:buNone/>
            </a:pPr>
            <a:r>
              <a:rPr lang="en-US" sz="1200" dirty="0">
                <a:solidFill>
                  <a:schemeClr val="accent6"/>
                </a:solidFill>
              </a:rPr>
              <a:t>pivot = 7</a:t>
            </a:r>
            <a:endParaRPr lang="en-US" sz="1200" dirty="0"/>
          </a:p>
        </p:txBody>
      </p:sp>
      <p:sp>
        <p:nvSpPr>
          <p:cNvPr id="24" name="Shape 22"/>
          <p:cNvSpPr/>
          <p:nvPr/>
        </p:nvSpPr>
        <p:spPr>
          <a:xfrm>
            <a:off x="3017520" y="2057400"/>
            <a:ext cx="548640" cy="502920"/>
          </a:xfrm>
          <a:prstGeom prst="roundRect">
            <a:avLst>
              <a:gd name="adj" fmla="val 14545"/>
            </a:avLst>
          </a:prstGeom>
          <a:solidFill>
            <a:srgbClr val="4CAF72"/>
          </a:solidFill>
          <a:ln w="19050">
            <a:solidFill>
              <a:srgbClr val="4CAF72"/>
            </a:solidFill>
            <a:prstDash val="solid"/>
          </a:ln>
        </p:spPr>
      </p:sp>
      <p:sp>
        <p:nvSpPr>
          <p:cNvPr id="25" name="Text 23"/>
          <p:cNvSpPr txBox="1"/>
          <p:nvPr/>
        </p:nvSpPr>
        <p:spPr>
          <a:xfrm>
            <a:off x="3017520" y="205740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26" name="Shape 24"/>
          <p:cNvSpPr/>
          <p:nvPr/>
        </p:nvSpPr>
        <p:spPr>
          <a:xfrm>
            <a:off x="3657600" y="2057400"/>
            <a:ext cx="548640" cy="502920"/>
          </a:xfrm>
          <a:prstGeom prst="roundRect">
            <a:avLst>
              <a:gd name="adj" fmla="val 14545"/>
            </a:avLst>
          </a:prstGeom>
          <a:solidFill>
            <a:srgbClr val="4CAF72"/>
          </a:solidFill>
          <a:ln w="19050">
            <a:solidFill>
              <a:srgbClr val="4CAF72"/>
            </a:solidFill>
            <a:prstDash val="solid"/>
          </a:ln>
        </p:spPr>
      </p:sp>
      <p:sp>
        <p:nvSpPr>
          <p:cNvPr id="27" name="Text 25"/>
          <p:cNvSpPr txBox="1"/>
          <p:nvPr/>
        </p:nvSpPr>
        <p:spPr>
          <a:xfrm>
            <a:off x="3657600" y="205740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Shape 26"/>
          <p:cNvSpPr/>
          <p:nvPr/>
        </p:nvSpPr>
        <p:spPr>
          <a:xfrm>
            <a:off x="4297680" y="2057400"/>
            <a:ext cx="548640" cy="502920"/>
          </a:xfrm>
          <a:prstGeom prst="roundRect">
            <a:avLst>
              <a:gd name="adj" fmla="val 14545"/>
            </a:avLst>
          </a:prstGeom>
          <a:solidFill>
            <a:srgbClr val="FF8A3D"/>
          </a:solidFill>
          <a:ln w="19050">
            <a:solidFill>
              <a:srgbClr val="FF8A3D"/>
            </a:solidFill>
            <a:prstDash val="solid"/>
          </a:ln>
        </p:spPr>
      </p:sp>
      <p:sp>
        <p:nvSpPr>
          <p:cNvPr id="29" name="Text 27"/>
          <p:cNvSpPr txBox="1"/>
          <p:nvPr/>
        </p:nvSpPr>
        <p:spPr>
          <a:xfrm>
            <a:off x="4297680" y="205740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30" name="Shape 28"/>
          <p:cNvSpPr/>
          <p:nvPr/>
        </p:nvSpPr>
        <p:spPr>
          <a:xfrm>
            <a:off x="4937760" y="2057400"/>
            <a:ext cx="548640" cy="502920"/>
          </a:xfrm>
          <a:prstGeom prst="roundRect">
            <a:avLst>
              <a:gd name="adj" fmla="val 14545"/>
            </a:avLst>
          </a:prstGeom>
          <a:solidFill>
            <a:srgbClr val="FFFFFF"/>
          </a:solidFill>
          <a:ln w="19050">
            <a:solidFill>
              <a:srgbClr val="B9B3A6"/>
            </a:solidFill>
            <a:prstDash val="solid"/>
          </a:ln>
        </p:spPr>
      </p:sp>
      <p:sp>
        <p:nvSpPr>
          <p:cNvPr id="31" name="Text 29"/>
          <p:cNvSpPr txBox="1"/>
          <p:nvPr/>
        </p:nvSpPr>
        <p:spPr>
          <a:xfrm>
            <a:off x="4937760" y="205740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32" name="Shape 30"/>
          <p:cNvSpPr/>
          <p:nvPr/>
        </p:nvSpPr>
        <p:spPr>
          <a:xfrm>
            <a:off x="5577840" y="2057400"/>
            <a:ext cx="548640" cy="502920"/>
          </a:xfrm>
          <a:prstGeom prst="roundRect">
            <a:avLst>
              <a:gd name="adj" fmla="val 14545"/>
            </a:avLst>
          </a:prstGeom>
          <a:solidFill>
            <a:srgbClr val="FFFFFF"/>
          </a:solidFill>
          <a:ln w="19050">
            <a:solidFill>
              <a:srgbClr val="B9B3A6"/>
            </a:solidFill>
            <a:prstDash val="solid"/>
          </a:ln>
        </p:spPr>
      </p:sp>
      <p:sp>
        <p:nvSpPr>
          <p:cNvPr id="33" name="Text 31"/>
          <p:cNvSpPr txBox="1"/>
          <p:nvPr/>
        </p:nvSpPr>
        <p:spPr>
          <a:xfrm>
            <a:off x="5577840" y="205740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34" name="Shape 32"/>
          <p:cNvSpPr/>
          <p:nvPr/>
        </p:nvSpPr>
        <p:spPr>
          <a:xfrm>
            <a:off x="6217920" y="2057400"/>
            <a:ext cx="548640" cy="502920"/>
          </a:xfrm>
          <a:prstGeom prst="roundRect">
            <a:avLst>
              <a:gd name="adj" fmla="val 14545"/>
            </a:avLst>
          </a:prstGeom>
          <a:solidFill>
            <a:srgbClr val="FFFFFF"/>
          </a:solidFill>
          <a:ln w="19050">
            <a:solidFill>
              <a:srgbClr val="B9B3A6"/>
            </a:solidFill>
            <a:prstDash val="solid"/>
          </a:ln>
        </p:spPr>
      </p:sp>
      <p:sp>
        <p:nvSpPr>
          <p:cNvPr id="35" name="Text 33"/>
          <p:cNvSpPr txBox="1"/>
          <p:nvPr/>
        </p:nvSpPr>
        <p:spPr>
          <a:xfrm>
            <a:off x="6217920" y="205740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8</a:t>
            </a:r>
            <a:endParaRPr lang="en-US" sz="1800" dirty="0"/>
          </a:p>
        </p:txBody>
      </p:sp>
      <p:sp>
        <p:nvSpPr>
          <p:cNvPr id="36" name="Text 34"/>
          <p:cNvSpPr txBox="1"/>
          <p:nvPr/>
        </p:nvSpPr>
        <p:spPr>
          <a:xfrm>
            <a:off x="7040880" y="2057400"/>
            <a:ext cx="1554480" cy="502920"/>
          </a:xfrm>
          <a:prstGeom prst="rect">
            <a:avLst/>
          </a:prstGeom>
          <a:noFill/>
          <a:ln/>
        </p:spPr>
        <p:txBody>
          <a:bodyPr wrap="square" lIns="0" tIns="0" rIns="0" bIns="0" rtlCol="0" anchor="ctr"/>
          <a:lstStyle/>
          <a:p>
            <a:pPr indent="0" marL="0">
              <a:buNone/>
            </a:pPr>
            <a:r>
              <a:rPr lang="en-US" sz="1400" b="1" dirty="0">
                <a:solidFill>
                  <a:schemeClr val="accent1"/>
                </a:solidFill>
              </a:rPr>
              <a:t>pi = 2</a:t>
            </a:r>
            <a:endParaRPr lang="en-US" sz="1400" dirty="0"/>
          </a:p>
        </p:txBody>
      </p:sp>
      <p:sp>
        <p:nvSpPr>
          <p:cNvPr id="37" name="Text 35"/>
          <p:cNvSpPr txBox="1"/>
          <p:nvPr/>
        </p:nvSpPr>
        <p:spPr>
          <a:xfrm>
            <a:off x="548640" y="2788920"/>
            <a:ext cx="2377440" cy="256032"/>
          </a:xfrm>
          <a:prstGeom prst="rect">
            <a:avLst/>
          </a:prstGeom>
          <a:noFill/>
          <a:ln/>
        </p:spPr>
        <p:txBody>
          <a:bodyPr wrap="square" lIns="0" tIns="0" rIns="0" bIns="0" rtlCol="0" anchor="ctr"/>
          <a:lstStyle/>
          <a:p>
            <a:pPr indent="0" marL="0">
              <a:buNone/>
            </a:pPr>
            <a:r>
              <a:rPr lang="en-US" sz="1400" b="1" dirty="0">
                <a:solidFill>
                  <a:schemeClr val="tx1"/>
                </a:solidFill>
              </a:rPr>
              <a:t>quickSort(3, 5)</a:t>
            </a:r>
            <a:endParaRPr lang="en-US" sz="1400" dirty="0"/>
          </a:p>
        </p:txBody>
      </p:sp>
      <p:sp>
        <p:nvSpPr>
          <p:cNvPr id="38" name="Text 36"/>
          <p:cNvSpPr txBox="1"/>
          <p:nvPr/>
        </p:nvSpPr>
        <p:spPr>
          <a:xfrm>
            <a:off x="548640" y="3044952"/>
            <a:ext cx="2377440" cy="228600"/>
          </a:xfrm>
          <a:prstGeom prst="rect">
            <a:avLst/>
          </a:prstGeom>
          <a:noFill/>
          <a:ln/>
        </p:spPr>
        <p:txBody>
          <a:bodyPr wrap="square" lIns="0" tIns="0" rIns="0" bIns="0" rtlCol="0" anchor="ctr"/>
          <a:lstStyle/>
          <a:p>
            <a:pPr indent="0" marL="0">
              <a:buNone/>
            </a:pPr>
            <a:r>
              <a:rPr lang="en-US" sz="1200" dirty="0">
                <a:solidFill>
                  <a:schemeClr val="accent6"/>
                </a:solidFill>
              </a:rPr>
              <a:t>pivot = 8</a:t>
            </a:r>
            <a:endParaRPr lang="en-US" sz="1200" dirty="0"/>
          </a:p>
        </p:txBody>
      </p:sp>
      <p:sp>
        <p:nvSpPr>
          <p:cNvPr id="39" name="Shape 37"/>
          <p:cNvSpPr/>
          <p:nvPr/>
        </p:nvSpPr>
        <p:spPr>
          <a:xfrm>
            <a:off x="3017520" y="2788920"/>
            <a:ext cx="548640" cy="502920"/>
          </a:xfrm>
          <a:prstGeom prst="roundRect">
            <a:avLst>
              <a:gd name="adj" fmla="val 14545"/>
            </a:avLst>
          </a:prstGeom>
          <a:solidFill>
            <a:srgbClr val="4CAF72"/>
          </a:solidFill>
          <a:ln w="19050">
            <a:solidFill>
              <a:srgbClr val="4CAF72"/>
            </a:solidFill>
            <a:prstDash val="solid"/>
          </a:ln>
        </p:spPr>
      </p:sp>
      <p:sp>
        <p:nvSpPr>
          <p:cNvPr id="40" name="Text 38"/>
          <p:cNvSpPr txBox="1"/>
          <p:nvPr/>
        </p:nvSpPr>
        <p:spPr>
          <a:xfrm>
            <a:off x="3017520" y="27889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41" name="Shape 39"/>
          <p:cNvSpPr/>
          <p:nvPr/>
        </p:nvSpPr>
        <p:spPr>
          <a:xfrm>
            <a:off x="3657600" y="2788920"/>
            <a:ext cx="548640" cy="502920"/>
          </a:xfrm>
          <a:prstGeom prst="roundRect">
            <a:avLst>
              <a:gd name="adj" fmla="val 14545"/>
            </a:avLst>
          </a:prstGeom>
          <a:solidFill>
            <a:srgbClr val="4CAF72"/>
          </a:solidFill>
          <a:ln w="19050">
            <a:solidFill>
              <a:srgbClr val="4CAF72"/>
            </a:solidFill>
            <a:prstDash val="solid"/>
          </a:ln>
        </p:spPr>
      </p:sp>
      <p:sp>
        <p:nvSpPr>
          <p:cNvPr id="42" name="Text 40"/>
          <p:cNvSpPr txBox="1"/>
          <p:nvPr/>
        </p:nvSpPr>
        <p:spPr>
          <a:xfrm>
            <a:off x="3657600" y="27889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43" name="Shape 41"/>
          <p:cNvSpPr/>
          <p:nvPr/>
        </p:nvSpPr>
        <p:spPr>
          <a:xfrm>
            <a:off x="4297680" y="2788920"/>
            <a:ext cx="548640" cy="502920"/>
          </a:xfrm>
          <a:prstGeom prst="roundRect">
            <a:avLst>
              <a:gd name="adj" fmla="val 14545"/>
            </a:avLst>
          </a:prstGeom>
          <a:solidFill>
            <a:srgbClr val="4CAF72"/>
          </a:solidFill>
          <a:ln w="19050">
            <a:solidFill>
              <a:srgbClr val="4CAF72"/>
            </a:solidFill>
            <a:prstDash val="solid"/>
          </a:ln>
        </p:spPr>
      </p:sp>
      <p:sp>
        <p:nvSpPr>
          <p:cNvPr id="44" name="Text 42"/>
          <p:cNvSpPr txBox="1"/>
          <p:nvPr/>
        </p:nvSpPr>
        <p:spPr>
          <a:xfrm>
            <a:off x="4297680" y="27889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45" name="Shape 43"/>
          <p:cNvSpPr/>
          <p:nvPr/>
        </p:nvSpPr>
        <p:spPr>
          <a:xfrm>
            <a:off x="4937760" y="2788920"/>
            <a:ext cx="548640" cy="502920"/>
          </a:xfrm>
          <a:prstGeom prst="roundRect">
            <a:avLst>
              <a:gd name="adj" fmla="val 14545"/>
            </a:avLst>
          </a:prstGeom>
          <a:solidFill>
            <a:srgbClr val="FF8A3D"/>
          </a:solidFill>
          <a:ln w="19050">
            <a:solidFill>
              <a:srgbClr val="FF8A3D"/>
            </a:solidFill>
            <a:prstDash val="solid"/>
          </a:ln>
        </p:spPr>
      </p:sp>
      <p:sp>
        <p:nvSpPr>
          <p:cNvPr id="46" name="Text 44"/>
          <p:cNvSpPr txBox="1"/>
          <p:nvPr/>
        </p:nvSpPr>
        <p:spPr>
          <a:xfrm>
            <a:off x="4937760" y="278892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47" name="Shape 45"/>
          <p:cNvSpPr/>
          <p:nvPr/>
        </p:nvSpPr>
        <p:spPr>
          <a:xfrm>
            <a:off x="5577840" y="2788920"/>
            <a:ext cx="548640" cy="502920"/>
          </a:xfrm>
          <a:prstGeom prst="roundRect">
            <a:avLst>
              <a:gd name="adj" fmla="val 14545"/>
            </a:avLst>
          </a:prstGeom>
          <a:solidFill>
            <a:srgbClr val="FFFFFF"/>
          </a:solidFill>
          <a:ln w="19050">
            <a:solidFill>
              <a:srgbClr val="B9B3A6"/>
            </a:solidFill>
            <a:prstDash val="solid"/>
          </a:ln>
        </p:spPr>
      </p:sp>
      <p:sp>
        <p:nvSpPr>
          <p:cNvPr id="48" name="Text 46"/>
          <p:cNvSpPr txBox="1"/>
          <p:nvPr/>
        </p:nvSpPr>
        <p:spPr>
          <a:xfrm>
            <a:off x="5577840" y="2788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10</a:t>
            </a:r>
            <a:endParaRPr lang="en-US" sz="1800" dirty="0"/>
          </a:p>
        </p:txBody>
      </p:sp>
      <p:sp>
        <p:nvSpPr>
          <p:cNvPr id="49" name="Shape 47"/>
          <p:cNvSpPr/>
          <p:nvPr/>
        </p:nvSpPr>
        <p:spPr>
          <a:xfrm>
            <a:off x="6217920" y="2788920"/>
            <a:ext cx="548640" cy="502920"/>
          </a:xfrm>
          <a:prstGeom prst="roundRect">
            <a:avLst>
              <a:gd name="adj" fmla="val 14545"/>
            </a:avLst>
          </a:prstGeom>
          <a:solidFill>
            <a:srgbClr val="FFFFFF"/>
          </a:solidFill>
          <a:ln w="19050">
            <a:solidFill>
              <a:srgbClr val="B9B3A6"/>
            </a:solidFill>
            <a:prstDash val="solid"/>
          </a:ln>
        </p:spPr>
      </p:sp>
      <p:sp>
        <p:nvSpPr>
          <p:cNvPr id="50" name="Text 48"/>
          <p:cNvSpPr txBox="1"/>
          <p:nvPr/>
        </p:nvSpPr>
        <p:spPr>
          <a:xfrm>
            <a:off x="6217920" y="2788920"/>
            <a:ext cx="548640" cy="502920"/>
          </a:xfrm>
          <a:prstGeom prst="rect">
            <a:avLst/>
          </a:prstGeom>
          <a:noFill/>
          <a:ln/>
        </p:spPr>
        <p:txBody>
          <a:bodyPr wrap="square" lIns="0" tIns="0" rIns="0" bIns="0" rtlCol="0" anchor="ctr"/>
          <a:lstStyle/>
          <a:p>
            <a:pPr algn="ctr" indent="0" marL="0">
              <a:buNone/>
            </a:pPr>
            <a:r>
              <a:rPr lang="en-US" sz="1800" b="1" dirty="0">
                <a:solidFill>
                  <a:srgbClr val="15171C"/>
                </a:solidFill>
              </a:rPr>
              <a:t>9</a:t>
            </a:r>
            <a:endParaRPr lang="en-US" sz="1800" dirty="0"/>
          </a:p>
        </p:txBody>
      </p:sp>
      <p:sp>
        <p:nvSpPr>
          <p:cNvPr id="51" name="Text 49"/>
          <p:cNvSpPr txBox="1"/>
          <p:nvPr/>
        </p:nvSpPr>
        <p:spPr>
          <a:xfrm>
            <a:off x="7040880" y="2788920"/>
            <a:ext cx="1554480" cy="502920"/>
          </a:xfrm>
          <a:prstGeom prst="rect">
            <a:avLst/>
          </a:prstGeom>
          <a:noFill/>
          <a:ln/>
        </p:spPr>
        <p:txBody>
          <a:bodyPr wrap="square" lIns="0" tIns="0" rIns="0" bIns="0" rtlCol="0" anchor="ctr"/>
          <a:lstStyle/>
          <a:p>
            <a:pPr indent="0" marL="0">
              <a:buNone/>
            </a:pPr>
            <a:r>
              <a:rPr lang="en-US" sz="1400" b="1" dirty="0">
                <a:solidFill>
                  <a:schemeClr val="accent1"/>
                </a:solidFill>
              </a:rPr>
              <a:t>pi = 3</a:t>
            </a:r>
            <a:endParaRPr lang="en-US" sz="1400" dirty="0"/>
          </a:p>
        </p:txBody>
      </p:sp>
      <p:sp>
        <p:nvSpPr>
          <p:cNvPr id="52" name="Text 50"/>
          <p:cNvSpPr txBox="1"/>
          <p:nvPr/>
        </p:nvSpPr>
        <p:spPr>
          <a:xfrm>
            <a:off x="548640" y="3520440"/>
            <a:ext cx="2377440" cy="256032"/>
          </a:xfrm>
          <a:prstGeom prst="rect">
            <a:avLst/>
          </a:prstGeom>
          <a:noFill/>
          <a:ln/>
        </p:spPr>
        <p:txBody>
          <a:bodyPr wrap="square" lIns="0" tIns="0" rIns="0" bIns="0" rtlCol="0" anchor="ctr"/>
          <a:lstStyle/>
          <a:p>
            <a:pPr indent="0" marL="0">
              <a:buNone/>
            </a:pPr>
            <a:r>
              <a:rPr lang="en-US" sz="1400" b="1" dirty="0">
                <a:solidFill>
                  <a:schemeClr val="tx1"/>
                </a:solidFill>
              </a:rPr>
              <a:t>quickSort(4, 5)</a:t>
            </a:r>
            <a:endParaRPr lang="en-US" sz="1400" dirty="0"/>
          </a:p>
        </p:txBody>
      </p:sp>
      <p:sp>
        <p:nvSpPr>
          <p:cNvPr id="53" name="Text 51"/>
          <p:cNvSpPr txBox="1"/>
          <p:nvPr/>
        </p:nvSpPr>
        <p:spPr>
          <a:xfrm>
            <a:off x="548640" y="3776472"/>
            <a:ext cx="2377440" cy="228600"/>
          </a:xfrm>
          <a:prstGeom prst="rect">
            <a:avLst/>
          </a:prstGeom>
          <a:noFill/>
          <a:ln/>
        </p:spPr>
        <p:txBody>
          <a:bodyPr wrap="square" lIns="0" tIns="0" rIns="0" bIns="0" rtlCol="0" anchor="ctr"/>
          <a:lstStyle/>
          <a:p>
            <a:pPr indent="0" marL="0">
              <a:buNone/>
            </a:pPr>
            <a:r>
              <a:rPr lang="en-US" sz="1200" dirty="0">
                <a:solidFill>
                  <a:schemeClr val="accent6"/>
                </a:solidFill>
              </a:rPr>
              <a:t>pivot = 9</a:t>
            </a:r>
            <a:endParaRPr lang="en-US" sz="1200" dirty="0"/>
          </a:p>
        </p:txBody>
      </p:sp>
      <p:sp>
        <p:nvSpPr>
          <p:cNvPr id="54" name="Shape 52"/>
          <p:cNvSpPr/>
          <p:nvPr/>
        </p:nvSpPr>
        <p:spPr>
          <a:xfrm>
            <a:off x="3017520" y="3520440"/>
            <a:ext cx="548640" cy="502920"/>
          </a:xfrm>
          <a:prstGeom prst="roundRect">
            <a:avLst>
              <a:gd name="adj" fmla="val 14545"/>
            </a:avLst>
          </a:prstGeom>
          <a:solidFill>
            <a:srgbClr val="4CAF72"/>
          </a:solidFill>
          <a:ln w="19050">
            <a:solidFill>
              <a:srgbClr val="4CAF72"/>
            </a:solidFill>
            <a:prstDash val="solid"/>
          </a:ln>
        </p:spPr>
      </p:sp>
      <p:sp>
        <p:nvSpPr>
          <p:cNvPr id="55" name="Text 53"/>
          <p:cNvSpPr txBox="1"/>
          <p:nvPr/>
        </p:nvSpPr>
        <p:spPr>
          <a:xfrm>
            <a:off x="301752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6" name="Shape 54"/>
          <p:cNvSpPr/>
          <p:nvPr/>
        </p:nvSpPr>
        <p:spPr>
          <a:xfrm>
            <a:off x="3657600" y="3520440"/>
            <a:ext cx="548640" cy="502920"/>
          </a:xfrm>
          <a:prstGeom prst="roundRect">
            <a:avLst>
              <a:gd name="adj" fmla="val 14545"/>
            </a:avLst>
          </a:prstGeom>
          <a:solidFill>
            <a:srgbClr val="4CAF72"/>
          </a:solidFill>
          <a:ln w="19050">
            <a:solidFill>
              <a:srgbClr val="4CAF72"/>
            </a:solidFill>
            <a:prstDash val="solid"/>
          </a:ln>
        </p:spPr>
      </p:sp>
      <p:sp>
        <p:nvSpPr>
          <p:cNvPr id="57" name="Text 55"/>
          <p:cNvSpPr txBox="1"/>
          <p:nvPr/>
        </p:nvSpPr>
        <p:spPr>
          <a:xfrm>
            <a:off x="365760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58" name="Shape 56"/>
          <p:cNvSpPr/>
          <p:nvPr/>
        </p:nvSpPr>
        <p:spPr>
          <a:xfrm>
            <a:off x="4297680" y="3520440"/>
            <a:ext cx="548640" cy="502920"/>
          </a:xfrm>
          <a:prstGeom prst="roundRect">
            <a:avLst>
              <a:gd name="adj" fmla="val 14545"/>
            </a:avLst>
          </a:prstGeom>
          <a:solidFill>
            <a:srgbClr val="4CAF72"/>
          </a:solidFill>
          <a:ln w="19050">
            <a:solidFill>
              <a:srgbClr val="4CAF72"/>
            </a:solidFill>
            <a:prstDash val="solid"/>
          </a:ln>
        </p:spPr>
      </p:sp>
      <p:sp>
        <p:nvSpPr>
          <p:cNvPr id="59" name="Text 57"/>
          <p:cNvSpPr txBox="1"/>
          <p:nvPr/>
        </p:nvSpPr>
        <p:spPr>
          <a:xfrm>
            <a:off x="429768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60" name="Shape 58"/>
          <p:cNvSpPr/>
          <p:nvPr/>
        </p:nvSpPr>
        <p:spPr>
          <a:xfrm>
            <a:off x="4937760" y="3520440"/>
            <a:ext cx="548640" cy="502920"/>
          </a:xfrm>
          <a:prstGeom prst="roundRect">
            <a:avLst>
              <a:gd name="adj" fmla="val 14545"/>
            </a:avLst>
          </a:prstGeom>
          <a:solidFill>
            <a:srgbClr val="4CAF72"/>
          </a:solidFill>
          <a:ln w="19050">
            <a:solidFill>
              <a:srgbClr val="4CAF72"/>
            </a:solidFill>
            <a:prstDash val="solid"/>
          </a:ln>
        </p:spPr>
      </p:sp>
      <p:sp>
        <p:nvSpPr>
          <p:cNvPr id="61" name="Text 59"/>
          <p:cNvSpPr txBox="1"/>
          <p:nvPr/>
        </p:nvSpPr>
        <p:spPr>
          <a:xfrm>
            <a:off x="493776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62" name="Shape 60"/>
          <p:cNvSpPr/>
          <p:nvPr/>
        </p:nvSpPr>
        <p:spPr>
          <a:xfrm>
            <a:off x="5577840" y="3520440"/>
            <a:ext cx="548640" cy="502920"/>
          </a:xfrm>
          <a:prstGeom prst="roundRect">
            <a:avLst>
              <a:gd name="adj" fmla="val 14545"/>
            </a:avLst>
          </a:prstGeom>
          <a:solidFill>
            <a:srgbClr val="FF8A3D"/>
          </a:solidFill>
          <a:ln w="19050">
            <a:solidFill>
              <a:srgbClr val="FF8A3D"/>
            </a:solidFill>
            <a:prstDash val="solid"/>
          </a:ln>
        </p:spPr>
      </p:sp>
      <p:sp>
        <p:nvSpPr>
          <p:cNvPr id="63" name="Text 61"/>
          <p:cNvSpPr txBox="1"/>
          <p:nvPr/>
        </p:nvSpPr>
        <p:spPr>
          <a:xfrm>
            <a:off x="557784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9</a:t>
            </a:r>
            <a:endParaRPr lang="en-US" sz="1800" dirty="0"/>
          </a:p>
        </p:txBody>
      </p:sp>
      <p:sp>
        <p:nvSpPr>
          <p:cNvPr id="64" name="Shape 62"/>
          <p:cNvSpPr/>
          <p:nvPr/>
        </p:nvSpPr>
        <p:spPr>
          <a:xfrm>
            <a:off x="6217920" y="3520440"/>
            <a:ext cx="548640" cy="502920"/>
          </a:xfrm>
          <a:prstGeom prst="roundRect">
            <a:avLst>
              <a:gd name="adj" fmla="val 14545"/>
            </a:avLst>
          </a:prstGeom>
          <a:solidFill>
            <a:srgbClr val="4CAF72"/>
          </a:solidFill>
          <a:ln w="19050">
            <a:solidFill>
              <a:srgbClr val="4CAF72"/>
            </a:solidFill>
            <a:prstDash val="solid"/>
          </a:ln>
        </p:spPr>
      </p:sp>
      <p:sp>
        <p:nvSpPr>
          <p:cNvPr id="65" name="Text 63"/>
          <p:cNvSpPr txBox="1"/>
          <p:nvPr/>
        </p:nvSpPr>
        <p:spPr>
          <a:xfrm>
            <a:off x="6217920" y="3520440"/>
            <a:ext cx="548640" cy="502920"/>
          </a:xfrm>
          <a:prstGeom prst="rect">
            <a:avLst/>
          </a:prstGeom>
          <a:noFill/>
          <a:ln/>
        </p:spPr>
        <p:txBody>
          <a:bodyPr wrap="square" lIns="0" tIns="0" rIns="0" bIns="0" rtlCol="0" anchor="ctr"/>
          <a:lstStyle/>
          <a:p>
            <a:pPr algn="ctr" indent="0" marL="0">
              <a:buNone/>
            </a:pPr>
            <a:r>
              <a:rPr lang="en-US" sz="1800" b="1" dirty="0">
                <a:solidFill>
                  <a:srgbClr val="FFFFFF"/>
                </a:solidFill>
              </a:rPr>
              <a:t>10</a:t>
            </a:r>
            <a:endParaRPr lang="en-US" sz="1800" dirty="0"/>
          </a:p>
        </p:txBody>
      </p:sp>
      <p:sp>
        <p:nvSpPr>
          <p:cNvPr id="66" name="Text 64"/>
          <p:cNvSpPr txBox="1"/>
          <p:nvPr/>
        </p:nvSpPr>
        <p:spPr>
          <a:xfrm>
            <a:off x="7040880" y="3520440"/>
            <a:ext cx="1554480" cy="502920"/>
          </a:xfrm>
          <a:prstGeom prst="rect">
            <a:avLst/>
          </a:prstGeom>
          <a:noFill/>
          <a:ln/>
        </p:spPr>
        <p:txBody>
          <a:bodyPr wrap="square" lIns="0" tIns="0" rIns="0" bIns="0" rtlCol="0" anchor="ctr"/>
          <a:lstStyle/>
          <a:p>
            <a:pPr indent="0" marL="0">
              <a:buNone/>
            </a:pPr>
            <a:r>
              <a:rPr lang="en-US" sz="1400" b="1" dirty="0">
                <a:solidFill>
                  <a:schemeClr val="accent1"/>
                </a:solidFill>
              </a:rPr>
              <a:t>pi = 4</a:t>
            </a:r>
            <a:endParaRPr lang="en-US" sz="1400" dirty="0"/>
          </a:p>
        </p:txBody>
      </p:sp>
      <p:sp>
        <p:nvSpPr>
          <p:cNvPr id="67" name="Text 65"/>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chemeClr val="accent6"/>
                </a:solidFill>
              </a:rPr>
              <a:t>Orange = pivot just placed   •   Green = already in its final place.  quickSort(0, 0) stops at once: one element is already sorted.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5. The quickSort() Function</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The recursive structure</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280160"/>
            <a:ext cx="5212080" cy="3017520"/>
          </a:xfrm>
          <a:prstGeom prst="roundRect">
            <a:avLst>
              <a:gd name="adj" fmla="val 3030"/>
            </a:avLst>
          </a:prstGeom>
          <a:solidFill>
            <a:schemeClr val="tx1"/>
          </a:solidFill>
          <a:ln w="12700">
            <a:solidFill>
              <a:schemeClr val="tx1"/>
            </a:solidFill>
            <a:prstDash val="solid"/>
          </a:ln>
        </p:spPr>
      </p:sp>
      <p:sp>
        <p:nvSpPr>
          <p:cNvPr id="8" name="Text 6"/>
          <p:cNvSpPr txBox="1"/>
          <p:nvPr/>
        </p:nvSpPr>
        <p:spPr>
          <a:xfrm>
            <a:off x="777240" y="1417320"/>
            <a:ext cx="4754880" cy="2743200"/>
          </a:xfrm>
          <a:prstGeom prst="rect">
            <a:avLst/>
          </a:prstGeom>
          <a:noFill/>
          <a:ln/>
        </p:spPr>
        <p:txBody>
          <a:bodyPr wrap="square" lIns="0" tIns="0" rIns="0" bIns="0" rtlCol="0" anchor="t"/>
          <a:lstStyle/>
          <a:p>
            <a:pPr indent="0" marL="0">
              <a:buNone/>
            </a:pPr>
            <a:r>
              <a:rPr lang="en-US" sz="1300" dirty="0">
                <a:solidFill>
                  <a:srgbClr val="E8ECF4"/>
                </a:solidFill>
                <a:latin typeface="Courier New" pitchFamily="34" charset="0"/>
                <a:ea typeface="Courier New" pitchFamily="34" charset="-122"/>
                <a:cs typeface="Courier New" pitchFamily="34" charset="-120"/>
              </a:rPr>
              <a:t>void quickSort(int arr[], int low, int high) {</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if (low &lt; high) {</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int pivot = arr[high];</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int i = low - 1;</a:t>
            </a:r>
            <a:endParaRPr lang="en-US" sz="1300" dirty="0"/>
          </a:p>
          <a:p>
            <a:pPr indent="0" marL="0">
              <a:buNone/>
            </a:pP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 partition loop and pivot swap:</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see the next slide */</a:t>
            </a:r>
            <a:endParaRPr lang="en-US" sz="1300" dirty="0"/>
          </a:p>
          <a:p>
            <a:pPr indent="0" marL="0">
              <a:buNone/>
            </a:pP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int pi = i + 1;</a:t>
            </a:r>
            <a:endParaRPr lang="en-US" sz="1300" dirty="0"/>
          </a:p>
          <a:p>
            <a:pPr indent="0" marL="0">
              <a:buNone/>
            </a:pP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quickSort(arr, low, pi - 1);</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quickSort(arr, pi + 1, high);</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CF4"/>
                </a:solidFill>
                <a:latin typeface="Courier New" pitchFamily="34" charset="0"/>
                <a:ea typeface="Courier New" pitchFamily="34" charset="-122"/>
                <a:cs typeface="Courier New" pitchFamily="34" charset="-120"/>
              </a:rPr>
              <a:t>}</a:t>
            </a:r>
            <a:endParaRPr lang="en-US" sz="1300" dirty="0"/>
          </a:p>
        </p:txBody>
      </p:sp>
      <p:sp>
        <p:nvSpPr>
          <p:cNvPr id="9" name="Shape 7"/>
          <p:cNvSpPr/>
          <p:nvPr/>
        </p:nvSpPr>
        <p:spPr>
          <a:xfrm>
            <a:off x="5943600" y="1280160"/>
            <a:ext cx="2651760" cy="896112"/>
          </a:xfrm>
          <a:prstGeom prst="roundRect">
            <a:avLst>
              <a:gd name="adj" fmla="val 10204"/>
            </a:avLst>
          </a:prstGeom>
          <a:solidFill>
            <a:schemeClr val="bg1"/>
          </a:solidFill>
          <a:ln w="12700">
            <a:solidFill>
              <a:srgbClr val="E3DED4"/>
            </a:solidFill>
            <a:prstDash val="solid"/>
          </a:ln>
        </p:spPr>
      </p:sp>
      <p:sp>
        <p:nvSpPr>
          <p:cNvPr id="10" name="Shape 8"/>
          <p:cNvSpPr/>
          <p:nvPr/>
        </p:nvSpPr>
        <p:spPr>
          <a:xfrm>
            <a:off x="6080760" y="1280160"/>
            <a:ext cx="2377440" cy="64008"/>
          </a:xfrm>
          <a:prstGeom prst="rect">
            <a:avLst/>
          </a:prstGeom>
          <a:solidFill>
            <a:schemeClr val="accent1"/>
          </a:solidFill>
          <a:ln w="12700">
            <a:solidFill>
              <a:schemeClr val="accent1"/>
            </a:solidFill>
            <a:prstDash val="solid"/>
          </a:ln>
        </p:spPr>
      </p:sp>
      <p:sp>
        <p:nvSpPr>
          <p:cNvPr id="11" name="Text 9"/>
          <p:cNvSpPr txBox="1"/>
          <p:nvPr/>
        </p:nvSpPr>
        <p:spPr>
          <a:xfrm>
            <a:off x="6126480" y="1463040"/>
            <a:ext cx="2286000" cy="365760"/>
          </a:xfrm>
          <a:prstGeom prst="rect">
            <a:avLst/>
          </a:prstGeom>
          <a:noFill/>
          <a:ln/>
        </p:spPr>
        <p:txBody>
          <a:bodyPr wrap="square" lIns="0" tIns="0" rIns="0" bIns="0" rtlCol="0" anchor="ctr"/>
          <a:lstStyle/>
          <a:p>
            <a:pPr indent="0" marL="0">
              <a:buNone/>
            </a:pPr>
            <a:r>
              <a:rPr lang="en-US" sz="1300" b="1" dirty="0">
                <a:solidFill>
                  <a:schemeClr val="tx1"/>
                </a:solidFill>
              </a:rPr>
              <a:t>low, high</a:t>
            </a:r>
            <a:endParaRPr lang="en-US" sz="1300" dirty="0"/>
          </a:p>
        </p:txBody>
      </p:sp>
      <p:sp>
        <p:nvSpPr>
          <p:cNvPr id="12" name="Text 10"/>
          <p:cNvSpPr txBox="1"/>
          <p:nvPr/>
        </p:nvSpPr>
        <p:spPr>
          <a:xfrm>
            <a:off x="6126480" y="1755648"/>
            <a:ext cx="228600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Start and end index of the part.</a:t>
            </a:r>
            <a:endParaRPr lang="en-US" sz="1100" dirty="0"/>
          </a:p>
        </p:txBody>
      </p:sp>
      <p:sp>
        <p:nvSpPr>
          <p:cNvPr id="13" name="Shape 11"/>
          <p:cNvSpPr/>
          <p:nvPr/>
        </p:nvSpPr>
        <p:spPr>
          <a:xfrm>
            <a:off x="5943600" y="2286000"/>
            <a:ext cx="2651760" cy="896112"/>
          </a:xfrm>
          <a:prstGeom prst="roundRect">
            <a:avLst>
              <a:gd name="adj" fmla="val 10204"/>
            </a:avLst>
          </a:prstGeom>
          <a:solidFill>
            <a:schemeClr val="bg1"/>
          </a:solidFill>
          <a:ln w="12700">
            <a:solidFill>
              <a:srgbClr val="E3DED4"/>
            </a:solidFill>
            <a:prstDash val="solid"/>
          </a:ln>
        </p:spPr>
      </p:sp>
      <p:sp>
        <p:nvSpPr>
          <p:cNvPr id="14" name="Shape 12"/>
          <p:cNvSpPr/>
          <p:nvPr/>
        </p:nvSpPr>
        <p:spPr>
          <a:xfrm>
            <a:off x="6080760" y="2286000"/>
            <a:ext cx="2377440" cy="64008"/>
          </a:xfrm>
          <a:prstGeom prst="rect">
            <a:avLst/>
          </a:prstGeom>
          <a:solidFill>
            <a:schemeClr val="accent2"/>
          </a:solidFill>
          <a:ln w="12700">
            <a:solidFill>
              <a:schemeClr val="accent2"/>
            </a:solidFill>
            <a:prstDash val="solid"/>
          </a:ln>
        </p:spPr>
      </p:sp>
      <p:sp>
        <p:nvSpPr>
          <p:cNvPr id="15" name="Text 13"/>
          <p:cNvSpPr txBox="1"/>
          <p:nvPr/>
        </p:nvSpPr>
        <p:spPr>
          <a:xfrm>
            <a:off x="6126480" y="2468880"/>
            <a:ext cx="2286000" cy="365760"/>
          </a:xfrm>
          <a:prstGeom prst="rect">
            <a:avLst/>
          </a:prstGeom>
          <a:noFill/>
          <a:ln/>
        </p:spPr>
        <p:txBody>
          <a:bodyPr wrap="square" lIns="0" tIns="0" rIns="0" bIns="0" rtlCol="0" anchor="ctr"/>
          <a:lstStyle/>
          <a:p>
            <a:pPr indent="0" marL="0">
              <a:buNone/>
            </a:pPr>
            <a:r>
              <a:rPr lang="en-US" sz="1300" b="1" dirty="0">
                <a:solidFill>
                  <a:schemeClr val="tx1"/>
                </a:solidFill>
              </a:rPr>
              <a:t>if (low &lt; high)</a:t>
            </a:r>
            <a:endParaRPr lang="en-US" sz="1300" dirty="0"/>
          </a:p>
        </p:txBody>
      </p:sp>
      <p:sp>
        <p:nvSpPr>
          <p:cNvPr id="16" name="Text 14"/>
          <p:cNvSpPr txBox="1"/>
          <p:nvPr/>
        </p:nvSpPr>
        <p:spPr>
          <a:xfrm>
            <a:off x="6126480" y="2761488"/>
            <a:ext cx="228600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Base case: stops at 0 or 1 element.</a:t>
            </a:r>
            <a:endParaRPr lang="en-US" sz="1100" dirty="0"/>
          </a:p>
        </p:txBody>
      </p:sp>
      <p:sp>
        <p:nvSpPr>
          <p:cNvPr id="17" name="Shape 15"/>
          <p:cNvSpPr/>
          <p:nvPr/>
        </p:nvSpPr>
        <p:spPr>
          <a:xfrm>
            <a:off x="5943600" y="3291840"/>
            <a:ext cx="2651760" cy="896112"/>
          </a:xfrm>
          <a:prstGeom prst="roundRect">
            <a:avLst>
              <a:gd name="adj" fmla="val 10204"/>
            </a:avLst>
          </a:prstGeom>
          <a:solidFill>
            <a:schemeClr val="bg1"/>
          </a:solidFill>
          <a:ln w="12700">
            <a:solidFill>
              <a:srgbClr val="E3DED4"/>
            </a:solidFill>
            <a:prstDash val="solid"/>
          </a:ln>
        </p:spPr>
      </p:sp>
      <p:sp>
        <p:nvSpPr>
          <p:cNvPr id="18" name="Shape 16"/>
          <p:cNvSpPr/>
          <p:nvPr/>
        </p:nvSpPr>
        <p:spPr>
          <a:xfrm>
            <a:off x="6080760" y="3291840"/>
            <a:ext cx="2377440" cy="64008"/>
          </a:xfrm>
          <a:prstGeom prst="rect">
            <a:avLst/>
          </a:prstGeom>
          <a:solidFill>
            <a:schemeClr val="accent3"/>
          </a:solidFill>
          <a:ln w="12700">
            <a:solidFill>
              <a:schemeClr val="accent3"/>
            </a:solidFill>
            <a:prstDash val="solid"/>
          </a:ln>
        </p:spPr>
      </p:sp>
      <p:sp>
        <p:nvSpPr>
          <p:cNvPr id="19" name="Text 17"/>
          <p:cNvSpPr txBox="1"/>
          <p:nvPr/>
        </p:nvSpPr>
        <p:spPr>
          <a:xfrm>
            <a:off x="6126480" y="3474720"/>
            <a:ext cx="2286000" cy="365760"/>
          </a:xfrm>
          <a:prstGeom prst="rect">
            <a:avLst/>
          </a:prstGeom>
          <a:noFill/>
          <a:ln/>
        </p:spPr>
        <p:txBody>
          <a:bodyPr wrap="square" lIns="0" tIns="0" rIns="0" bIns="0" rtlCol="0" anchor="ctr"/>
          <a:lstStyle/>
          <a:p>
            <a:pPr indent="0" marL="0">
              <a:buNone/>
            </a:pPr>
            <a:r>
              <a:rPr lang="en-US" sz="1300" b="1" dirty="0">
                <a:solidFill>
                  <a:schemeClr val="tx1"/>
                </a:solidFill>
              </a:rPr>
              <a:t>pi</a:t>
            </a:r>
            <a:endParaRPr lang="en-US" sz="1300" dirty="0"/>
          </a:p>
        </p:txBody>
      </p:sp>
      <p:sp>
        <p:nvSpPr>
          <p:cNvPr id="20" name="Text 18"/>
          <p:cNvSpPr txBox="1"/>
          <p:nvPr/>
        </p:nvSpPr>
        <p:spPr>
          <a:xfrm>
            <a:off x="6126480" y="3767328"/>
            <a:ext cx="228600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Final index of the pivot.</a:t>
            </a:r>
            <a:endParaRPr lang="en-US" sz="1100" dirty="0"/>
          </a:p>
        </p:txBody>
      </p:sp>
      <p:sp>
        <p:nvSpPr>
          <p:cNvPr id="21" name="Text 19"/>
          <p:cNvSpPr txBox="1"/>
          <p:nvPr/>
        </p:nvSpPr>
        <p:spPr>
          <a:xfrm>
            <a:off x="548640" y="4434840"/>
            <a:ext cx="8046720" cy="182880"/>
          </a:xfrm>
          <a:prstGeom prst="rect">
            <a:avLst/>
          </a:prstGeom>
          <a:noFill/>
          <a:ln/>
        </p:spPr>
        <p:txBody>
          <a:bodyPr wrap="square" lIns="0" tIns="0" rIns="0" bIns="0" rtlCol="0" anchor="ctr"/>
          <a:lstStyle/>
          <a:p>
            <a:pPr indent="0" marL="0">
              <a:buNone/>
            </a:pPr>
            <a:r>
              <a:rPr lang="en-US" sz="1100" dirty="0">
                <a:solidFill>
                  <a:schemeClr val="accent6"/>
                </a:solidFill>
              </a:rPr>
              <a:t>The two recursive calls skip the pivot at index pi, because it is already in the right place.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6. The Partition Step</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How the pivot finds its place</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280160"/>
            <a:ext cx="4937760" cy="3017520"/>
          </a:xfrm>
          <a:prstGeom prst="roundRect">
            <a:avLst>
              <a:gd name="adj" fmla="val 3030"/>
            </a:avLst>
          </a:prstGeom>
          <a:solidFill>
            <a:schemeClr val="tx1"/>
          </a:solidFill>
          <a:ln w="12700">
            <a:solidFill>
              <a:schemeClr val="tx1"/>
            </a:solidFill>
            <a:prstDash val="solid"/>
          </a:ln>
        </p:spPr>
      </p:sp>
      <p:sp>
        <p:nvSpPr>
          <p:cNvPr id="8" name="Text 6"/>
          <p:cNvSpPr txBox="1"/>
          <p:nvPr/>
        </p:nvSpPr>
        <p:spPr>
          <a:xfrm>
            <a:off x="777240" y="1417320"/>
            <a:ext cx="4480560" cy="2743200"/>
          </a:xfrm>
          <a:prstGeom prst="rect">
            <a:avLst/>
          </a:prstGeom>
          <a:noFill/>
          <a:ln/>
        </p:spPr>
        <p:txBody>
          <a:bodyPr wrap="square" lIns="0" tIns="0" rIns="0" bIns="0" rtlCol="0" anchor="t"/>
          <a:lstStyle/>
          <a:p>
            <a:pPr indent="0" marL="0">
              <a:buNone/>
            </a:pPr>
            <a:r>
              <a:rPr lang="en-US" sz="1200" dirty="0">
                <a:solidFill>
                  <a:srgbClr val="E8ECF4"/>
                </a:solidFill>
                <a:latin typeface="Courier New" pitchFamily="34" charset="0"/>
                <a:ea typeface="Courier New" pitchFamily="34" charset="-122"/>
                <a:cs typeface="Courier New" pitchFamily="34" charset="-120"/>
              </a:rPr>
              <a:t>int pivot = arr[high];</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int i = low - 1;</a:t>
            </a:r>
            <a:endParaRPr lang="en-US" sz="1200" dirty="0"/>
          </a:p>
          <a:p>
            <a:pPr indent="0" marL="0">
              <a:buNone/>
            </a:pP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for (int j = low; j &lt; high; j++) {</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if (arr[j] &lt;= pivot) {</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i++;</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int temp = arr[i];</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arr[i] = arr[j];</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arr[j] = temp;</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int temp = arr[i + 1];</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arr[i + 1] = arr[high];</a:t>
            </a:r>
            <a:endParaRPr lang="en-US" sz="1200" dirty="0"/>
          </a:p>
          <a:p>
            <a:pPr indent="0" marL="0">
              <a:buNone/>
            </a:pPr>
            <a:r>
              <a:rPr lang="en-US" sz="1200" dirty="0">
                <a:solidFill>
                  <a:srgbClr val="E8ECF4"/>
                </a:solidFill>
                <a:latin typeface="Courier New" pitchFamily="34" charset="0"/>
                <a:ea typeface="Courier New" pitchFamily="34" charset="-122"/>
                <a:cs typeface="Courier New" pitchFamily="34" charset="-120"/>
              </a:rPr>
              <a:t>arr[high] = temp;</a:t>
            </a:r>
            <a:endParaRPr lang="en-US" sz="1200" dirty="0"/>
          </a:p>
        </p:txBody>
      </p:sp>
      <p:sp>
        <p:nvSpPr>
          <p:cNvPr id="9" name="Shape 7"/>
          <p:cNvSpPr/>
          <p:nvPr/>
        </p:nvSpPr>
        <p:spPr>
          <a:xfrm>
            <a:off x="5669280" y="1280160"/>
            <a:ext cx="2926080" cy="896112"/>
          </a:xfrm>
          <a:prstGeom prst="roundRect">
            <a:avLst>
              <a:gd name="adj" fmla="val 10204"/>
            </a:avLst>
          </a:prstGeom>
          <a:solidFill>
            <a:schemeClr val="bg1"/>
          </a:solidFill>
          <a:ln w="12700">
            <a:solidFill>
              <a:srgbClr val="E3DED4"/>
            </a:solidFill>
            <a:prstDash val="solid"/>
          </a:ln>
        </p:spPr>
      </p:sp>
      <p:sp>
        <p:nvSpPr>
          <p:cNvPr id="10" name="Shape 8"/>
          <p:cNvSpPr/>
          <p:nvPr/>
        </p:nvSpPr>
        <p:spPr>
          <a:xfrm>
            <a:off x="5806440" y="1280160"/>
            <a:ext cx="2651760" cy="64008"/>
          </a:xfrm>
          <a:prstGeom prst="rect">
            <a:avLst/>
          </a:prstGeom>
          <a:solidFill>
            <a:schemeClr val="accent1"/>
          </a:solidFill>
          <a:ln w="12700">
            <a:solidFill>
              <a:schemeClr val="accent1"/>
            </a:solidFill>
            <a:prstDash val="solid"/>
          </a:ln>
        </p:spPr>
      </p:sp>
      <p:sp>
        <p:nvSpPr>
          <p:cNvPr id="11" name="Text 9"/>
          <p:cNvSpPr txBox="1"/>
          <p:nvPr/>
        </p:nvSpPr>
        <p:spPr>
          <a:xfrm>
            <a:off x="5852160" y="1463040"/>
            <a:ext cx="2560320" cy="365760"/>
          </a:xfrm>
          <a:prstGeom prst="rect">
            <a:avLst/>
          </a:prstGeom>
          <a:noFill/>
          <a:ln/>
        </p:spPr>
        <p:txBody>
          <a:bodyPr wrap="square" lIns="0" tIns="0" rIns="0" bIns="0" rtlCol="0" anchor="ctr"/>
          <a:lstStyle/>
          <a:p>
            <a:pPr indent="0" marL="0">
              <a:buNone/>
            </a:pPr>
            <a:r>
              <a:rPr lang="en-US" sz="1300" b="1" dirty="0">
                <a:solidFill>
                  <a:schemeClr val="tx1"/>
                </a:solidFill>
              </a:rPr>
              <a:t>Loop over j</a:t>
            </a:r>
            <a:endParaRPr lang="en-US" sz="1300" dirty="0"/>
          </a:p>
        </p:txBody>
      </p:sp>
      <p:sp>
        <p:nvSpPr>
          <p:cNvPr id="12" name="Text 10"/>
          <p:cNvSpPr txBox="1"/>
          <p:nvPr/>
        </p:nvSpPr>
        <p:spPr>
          <a:xfrm>
            <a:off x="5852160" y="1755648"/>
            <a:ext cx="256032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Checks every element before the pivot.</a:t>
            </a:r>
            <a:endParaRPr lang="en-US" sz="1100" dirty="0"/>
          </a:p>
        </p:txBody>
      </p:sp>
      <p:sp>
        <p:nvSpPr>
          <p:cNvPr id="13" name="Shape 11"/>
          <p:cNvSpPr/>
          <p:nvPr/>
        </p:nvSpPr>
        <p:spPr>
          <a:xfrm>
            <a:off x="5669280" y="2286000"/>
            <a:ext cx="2926080" cy="896112"/>
          </a:xfrm>
          <a:prstGeom prst="roundRect">
            <a:avLst>
              <a:gd name="adj" fmla="val 10204"/>
            </a:avLst>
          </a:prstGeom>
          <a:solidFill>
            <a:schemeClr val="bg1"/>
          </a:solidFill>
          <a:ln w="12700">
            <a:solidFill>
              <a:srgbClr val="E3DED4"/>
            </a:solidFill>
            <a:prstDash val="solid"/>
          </a:ln>
        </p:spPr>
      </p:sp>
      <p:sp>
        <p:nvSpPr>
          <p:cNvPr id="14" name="Shape 12"/>
          <p:cNvSpPr/>
          <p:nvPr/>
        </p:nvSpPr>
        <p:spPr>
          <a:xfrm>
            <a:off x="5806440" y="2286000"/>
            <a:ext cx="2651760" cy="64008"/>
          </a:xfrm>
          <a:prstGeom prst="rect">
            <a:avLst/>
          </a:prstGeom>
          <a:solidFill>
            <a:schemeClr val="accent2"/>
          </a:solidFill>
          <a:ln w="12700">
            <a:solidFill>
              <a:schemeClr val="accent2"/>
            </a:solidFill>
            <a:prstDash val="solid"/>
          </a:ln>
        </p:spPr>
      </p:sp>
      <p:sp>
        <p:nvSpPr>
          <p:cNvPr id="15" name="Text 13"/>
          <p:cNvSpPr txBox="1"/>
          <p:nvPr/>
        </p:nvSpPr>
        <p:spPr>
          <a:xfrm>
            <a:off x="5852160" y="2468880"/>
            <a:ext cx="2560320" cy="365760"/>
          </a:xfrm>
          <a:prstGeom prst="rect">
            <a:avLst/>
          </a:prstGeom>
          <a:noFill/>
          <a:ln/>
        </p:spPr>
        <p:txBody>
          <a:bodyPr wrap="square" lIns="0" tIns="0" rIns="0" bIns="0" rtlCol="0" anchor="ctr"/>
          <a:lstStyle/>
          <a:p>
            <a:pPr indent="0" marL="0">
              <a:buNone/>
            </a:pPr>
            <a:r>
              <a:rPr lang="en-US" sz="1300" b="1" dirty="0">
                <a:solidFill>
                  <a:schemeClr val="tx1"/>
                </a:solidFill>
              </a:rPr>
              <a:t>If arr[j] &lt;= pivot</a:t>
            </a:r>
            <a:endParaRPr lang="en-US" sz="1300" dirty="0"/>
          </a:p>
        </p:txBody>
      </p:sp>
      <p:sp>
        <p:nvSpPr>
          <p:cNvPr id="16" name="Text 14"/>
          <p:cNvSpPr txBox="1"/>
          <p:nvPr/>
        </p:nvSpPr>
        <p:spPr>
          <a:xfrm>
            <a:off x="5852160" y="2761488"/>
            <a:ext cx="256032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i moves ahead; arr[i] and arr[j] swap.</a:t>
            </a:r>
            <a:endParaRPr lang="en-US" sz="1100" dirty="0"/>
          </a:p>
        </p:txBody>
      </p:sp>
      <p:sp>
        <p:nvSpPr>
          <p:cNvPr id="17" name="Shape 15"/>
          <p:cNvSpPr/>
          <p:nvPr/>
        </p:nvSpPr>
        <p:spPr>
          <a:xfrm>
            <a:off x="5669280" y="3291840"/>
            <a:ext cx="2926080" cy="896112"/>
          </a:xfrm>
          <a:prstGeom prst="roundRect">
            <a:avLst>
              <a:gd name="adj" fmla="val 10204"/>
            </a:avLst>
          </a:prstGeom>
          <a:solidFill>
            <a:schemeClr val="bg1"/>
          </a:solidFill>
          <a:ln w="12700">
            <a:solidFill>
              <a:srgbClr val="E3DED4"/>
            </a:solidFill>
            <a:prstDash val="solid"/>
          </a:ln>
        </p:spPr>
      </p:sp>
      <p:sp>
        <p:nvSpPr>
          <p:cNvPr id="18" name="Shape 16"/>
          <p:cNvSpPr/>
          <p:nvPr/>
        </p:nvSpPr>
        <p:spPr>
          <a:xfrm>
            <a:off x="5806440" y="3291840"/>
            <a:ext cx="2651760" cy="64008"/>
          </a:xfrm>
          <a:prstGeom prst="rect">
            <a:avLst/>
          </a:prstGeom>
          <a:solidFill>
            <a:schemeClr val="accent3"/>
          </a:solidFill>
          <a:ln w="12700">
            <a:solidFill>
              <a:schemeClr val="accent3"/>
            </a:solidFill>
            <a:prstDash val="solid"/>
          </a:ln>
        </p:spPr>
      </p:sp>
      <p:sp>
        <p:nvSpPr>
          <p:cNvPr id="19" name="Text 17"/>
          <p:cNvSpPr txBox="1"/>
          <p:nvPr/>
        </p:nvSpPr>
        <p:spPr>
          <a:xfrm>
            <a:off x="5852160" y="3474720"/>
            <a:ext cx="2560320" cy="365760"/>
          </a:xfrm>
          <a:prstGeom prst="rect">
            <a:avLst/>
          </a:prstGeom>
          <a:noFill/>
          <a:ln/>
        </p:spPr>
        <p:txBody>
          <a:bodyPr wrap="square" lIns="0" tIns="0" rIns="0" bIns="0" rtlCol="0" anchor="ctr"/>
          <a:lstStyle/>
          <a:p>
            <a:pPr indent="0" marL="0">
              <a:buNone/>
            </a:pPr>
            <a:r>
              <a:rPr lang="en-US" sz="1300" b="1" dirty="0">
                <a:solidFill>
                  <a:schemeClr val="tx1"/>
                </a:solidFill>
              </a:rPr>
              <a:t>Last three lines</a:t>
            </a:r>
            <a:endParaRPr lang="en-US" sz="1300" dirty="0"/>
          </a:p>
        </p:txBody>
      </p:sp>
      <p:sp>
        <p:nvSpPr>
          <p:cNvPr id="20" name="Text 18"/>
          <p:cNvSpPr txBox="1"/>
          <p:nvPr/>
        </p:nvSpPr>
        <p:spPr>
          <a:xfrm>
            <a:off x="5852160" y="3767328"/>
            <a:ext cx="2560320" cy="329184"/>
          </a:xfrm>
          <a:prstGeom prst="rect">
            <a:avLst/>
          </a:prstGeom>
          <a:noFill/>
          <a:ln/>
        </p:spPr>
        <p:txBody>
          <a:bodyPr wrap="square" lIns="0" tIns="0" rIns="0" bIns="0" rtlCol="0" anchor="t"/>
          <a:lstStyle/>
          <a:p>
            <a:pPr indent="0" marL="0">
              <a:spcAft>
                <a:spcPts val="600"/>
              </a:spcAft>
              <a:buNone/>
            </a:pPr>
            <a:r>
              <a:rPr lang="en-US" sz="1100" dirty="0">
                <a:solidFill>
                  <a:schemeClr val="tx2"/>
                </a:solidFill>
              </a:rPr>
              <a:t>Swap pivot into index i + 1.</a:t>
            </a:r>
            <a:endParaRPr lang="en-US" sz="1100" dirty="0"/>
          </a:p>
        </p:txBody>
      </p:sp>
      <p:sp>
        <p:nvSpPr>
          <p:cNvPr id="21" name="Text 19"/>
          <p:cNvSpPr txBox="1"/>
          <p:nvPr/>
        </p:nvSpPr>
        <p:spPr>
          <a:xfrm>
            <a:off x="548640" y="4434840"/>
            <a:ext cx="8046720" cy="182880"/>
          </a:xfrm>
          <a:prstGeom prst="rect">
            <a:avLst/>
          </a:prstGeom>
          <a:noFill/>
          <a:ln/>
        </p:spPr>
        <p:txBody>
          <a:bodyPr wrap="square" lIns="0" tIns="0" rIns="0" bIns="0" rtlCol="0" anchor="ctr"/>
          <a:lstStyle/>
          <a:p>
            <a:pPr indent="0" marL="0">
              <a:buNone/>
            </a:pPr>
            <a:r>
              <a:rPr lang="en-US" sz="1100" dirty="0">
                <a:solidFill>
                  <a:schemeClr val="accent6"/>
                </a:solidFill>
              </a:rPr>
              <a:t>i always marks the last element of the 'smaller or equal' group.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7. Understanding the C Code</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What the important variables and functions mean</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325880"/>
            <a:ext cx="2560320" cy="1325880"/>
          </a:xfrm>
          <a:prstGeom prst="roundRect">
            <a:avLst>
              <a:gd name="adj" fmla="val 6897"/>
            </a:avLst>
          </a:prstGeom>
          <a:solidFill>
            <a:schemeClr val="bg1"/>
          </a:solidFill>
          <a:ln w="12700">
            <a:solidFill>
              <a:srgbClr val="E3DED4"/>
            </a:solidFill>
            <a:prstDash val="solid"/>
          </a:ln>
        </p:spPr>
      </p:sp>
      <p:sp>
        <p:nvSpPr>
          <p:cNvPr id="8" name="Shape 6"/>
          <p:cNvSpPr/>
          <p:nvPr/>
        </p:nvSpPr>
        <p:spPr>
          <a:xfrm>
            <a:off x="685800" y="1325880"/>
            <a:ext cx="2286000" cy="64008"/>
          </a:xfrm>
          <a:prstGeom prst="rect">
            <a:avLst/>
          </a:prstGeom>
          <a:solidFill>
            <a:schemeClr val="accent1"/>
          </a:solidFill>
          <a:ln w="12700">
            <a:solidFill>
              <a:schemeClr val="accent1"/>
            </a:solidFill>
            <a:prstDash val="solid"/>
          </a:ln>
        </p:spPr>
      </p:sp>
      <p:sp>
        <p:nvSpPr>
          <p:cNvPr id="9" name="Text 7"/>
          <p:cNvSpPr txBox="1"/>
          <p:nvPr/>
        </p:nvSpPr>
        <p:spPr>
          <a:xfrm>
            <a:off x="731520" y="150876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low, high</a:t>
            </a:r>
            <a:endParaRPr lang="en-US" sz="1500" dirty="0"/>
          </a:p>
        </p:txBody>
      </p:sp>
      <p:sp>
        <p:nvSpPr>
          <p:cNvPr id="10" name="Text 8"/>
          <p:cNvSpPr txBox="1"/>
          <p:nvPr/>
        </p:nvSpPr>
        <p:spPr>
          <a:xfrm>
            <a:off x="731520" y="192024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low = first index and high = last index of the current part.</a:t>
            </a:r>
            <a:endParaRPr lang="en-US" sz="1150" dirty="0"/>
          </a:p>
        </p:txBody>
      </p:sp>
      <p:sp>
        <p:nvSpPr>
          <p:cNvPr id="11" name="Shape 9"/>
          <p:cNvSpPr/>
          <p:nvPr/>
        </p:nvSpPr>
        <p:spPr>
          <a:xfrm>
            <a:off x="3291840" y="1325880"/>
            <a:ext cx="2560320" cy="1325880"/>
          </a:xfrm>
          <a:prstGeom prst="roundRect">
            <a:avLst>
              <a:gd name="adj" fmla="val 6897"/>
            </a:avLst>
          </a:prstGeom>
          <a:solidFill>
            <a:schemeClr val="bg1"/>
          </a:solidFill>
          <a:ln w="12700">
            <a:solidFill>
              <a:srgbClr val="E3DED4"/>
            </a:solidFill>
            <a:prstDash val="solid"/>
          </a:ln>
        </p:spPr>
      </p:sp>
      <p:sp>
        <p:nvSpPr>
          <p:cNvPr id="12" name="Shape 10"/>
          <p:cNvSpPr/>
          <p:nvPr/>
        </p:nvSpPr>
        <p:spPr>
          <a:xfrm>
            <a:off x="3429000" y="1325880"/>
            <a:ext cx="2286000" cy="64008"/>
          </a:xfrm>
          <a:prstGeom prst="rect">
            <a:avLst/>
          </a:prstGeom>
          <a:solidFill>
            <a:schemeClr val="accent2"/>
          </a:solidFill>
          <a:ln w="12700">
            <a:solidFill>
              <a:schemeClr val="accent2"/>
            </a:solidFill>
            <a:prstDash val="solid"/>
          </a:ln>
        </p:spPr>
      </p:sp>
      <p:sp>
        <p:nvSpPr>
          <p:cNvPr id="13" name="Text 11"/>
          <p:cNvSpPr txBox="1"/>
          <p:nvPr/>
        </p:nvSpPr>
        <p:spPr>
          <a:xfrm>
            <a:off x="3474720" y="150876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pivot</a:t>
            </a:r>
            <a:endParaRPr lang="en-US" sz="1500" dirty="0"/>
          </a:p>
        </p:txBody>
      </p:sp>
      <p:sp>
        <p:nvSpPr>
          <p:cNvPr id="14" name="Text 12"/>
          <p:cNvSpPr txBox="1"/>
          <p:nvPr/>
        </p:nvSpPr>
        <p:spPr>
          <a:xfrm>
            <a:off x="3474720" y="192024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The value arr[high], used to compare every other element.</a:t>
            </a:r>
            <a:endParaRPr lang="en-US" sz="1150" dirty="0"/>
          </a:p>
        </p:txBody>
      </p:sp>
      <p:sp>
        <p:nvSpPr>
          <p:cNvPr id="15" name="Shape 13"/>
          <p:cNvSpPr/>
          <p:nvPr/>
        </p:nvSpPr>
        <p:spPr>
          <a:xfrm>
            <a:off x="6035040" y="1325880"/>
            <a:ext cx="2560320" cy="1325880"/>
          </a:xfrm>
          <a:prstGeom prst="roundRect">
            <a:avLst>
              <a:gd name="adj" fmla="val 6897"/>
            </a:avLst>
          </a:prstGeom>
          <a:solidFill>
            <a:schemeClr val="bg1"/>
          </a:solidFill>
          <a:ln w="12700">
            <a:solidFill>
              <a:srgbClr val="E3DED4"/>
            </a:solidFill>
            <a:prstDash val="solid"/>
          </a:ln>
        </p:spPr>
      </p:sp>
      <p:sp>
        <p:nvSpPr>
          <p:cNvPr id="16" name="Shape 14"/>
          <p:cNvSpPr/>
          <p:nvPr/>
        </p:nvSpPr>
        <p:spPr>
          <a:xfrm>
            <a:off x="6172200" y="1325880"/>
            <a:ext cx="2286000" cy="64008"/>
          </a:xfrm>
          <a:prstGeom prst="rect">
            <a:avLst/>
          </a:prstGeom>
          <a:solidFill>
            <a:schemeClr val="accent3"/>
          </a:solidFill>
          <a:ln w="12700">
            <a:solidFill>
              <a:schemeClr val="accent3"/>
            </a:solidFill>
            <a:prstDash val="solid"/>
          </a:ln>
        </p:spPr>
      </p:sp>
      <p:sp>
        <p:nvSpPr>
          <p:cNvPr id="17" name="Text 15"/>
          <p:cNvSpPr txBox="1"/>
          <p:nvPr/>
        </p:nvSpPr>
        <p:spPr>
          <a:xfrm>
            <a:off x="6217920" y="150876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i</a:t>
            </a:r>
            <a:endParaRPr lang="en-US" sz="1500" dirty="0"/>
          </a:p>
        </p:txBody>
      </p:sp>
      <p:sp>
        <p:nvSpPr>
          <p:cNvPr id="18" name="Text 16"/>
          <p:cNvSpPr txBox="1"/>
          <p:nvPr/>
        </p:nvSpPr>
        <p:spPr>
          <a:xfrm>
            <a:off x="6217920" y="192024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Index of the last value in the smaller-or-equal group. Starts at low - 1.</a:t>
            </a:r>
            <a:endParaRPr lang="en-US" sz="1150" dirty="0"/>
          </a:p>
        </p:txBody>
      </p:sp>
      <p:sp>
        <p:nvSpPr>
          <p:cNvPr id="19" name="Shape 17"/>
          <p:cNvSpPr/>
          <p:nvPr/>
        </p:nvSpPr>
        <p:spPr>
          <a:xfrm>
            <a:off x="548640" y="2788920"/>
            <a:ext cx="2560320" cy="1325880"/>
          </a:xfrm>
          <a:prstGeom prst="roundRect">
            <a:avLst>
              <a:gd name="adj" fmla="val 6897"/>
            </a:avLst>
          </a:prstGeom>
          <a:solidFill>
            <a:schemeClr val="bg1"/>
          </a:solidFill>
          <a:ln w="12700">
            <a:solidFill>
              <a:srgbClr val="E3DED4"/>
            </a:solidFill>
            <a:prstDash val="solid"/>
          </a:ln>
        </p:spPr>
      </p:sp>
      <p:sp>
        <p:nvSpPr>
          <p:cNvPr id="20" name="Shape 18"/>
          <p:cNvSpPr/>
          <p:nvPr/>
        </p:nvSpPr>
        <p:spPr>
          <a:xfrm>
            <a:off x="685800" y="2788920"/>
            <a:ext cx="2286000" cy="64008"/>
          </a:xfrm>
          <a:prstGeom prst="rect">
            <a:avLst/>
          </a:prstGeom>
          <a:solidFill>
            <a:schemeClr val="accent1"/>
          </a:solidFill>
          <a:ln w="12700">
            <a:solidFill>
              <a:schemeClr val="accent1"/>
            </a:solidFill>
            <a:prstDash val="solid"/>
          </a:ln>
        </p:spPr>
      </p:sp>
      <p:sp>
        <p:nvSpPr>
          <p:cNvPr id="21" name="Text 19"/>
          <p:cNvSpPr txBox="1"/>
          <p:nvPr/>
        </p:nvSpPr>
        <p:spPr>
          <a:xfrm>
            <a:off x="731520" y="297180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j</a:t>
            </a:r>
            <a:endParaRPr lang="en-US" sz="1500" dirty="0"/>
          </a:p>
        </p:txBody>
      </p:sp>
      <p:sp>
        <p:nvSpPr>
          <p:cNvPr id="22" name="Text 20"/>
          <p:cNvSpPr txBox="1"/>
          <p:nvPr/>
        </p:nvSpPr>
        <p:spPr>
          <a:xfrm>
            <a:off x="731520" y="338328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Scans the array from low to high - 1.</a:t>
            </a:r>
            <a:endParaRPr lang="en-US" sz="1150" dirty="0"/>
          </a:p>
        </p:txBody>
      </p:sp>
      <p:sp>
        <p:nvSpPr>
          <p:cNvPr id="23" name="Shape 21"/>
          <p:cNvSpPr/>
          <p:nvPr/>
        </p:nvSpPr>
        <p:spPr>
          <a:xfrm>
            <a:off x="3291840" y="2788920"/>
            <a:ext cx="2560320" cy="1325880"/>
          </a:xfrm>
          <a:prstGeom prst="roundRect">
            <a:avLst>
              <a:gd name="adj" fmla="val 6897"/>
            </a:avLst>
          </a:prstGeom>
          <a:solidFill>
            <a:schemeClr val="bg1"/>
          </a:solidFill>
          <a:ln w="12700">
            <a:solidFill>
              <a:srgbClr val="E3DED4"/>
            </a:solidFill>
            <a:prstDash val="solid"/>
          </a:ln>
        </p:spPr>
      </p:sp>
      <p:sp>
        <p:nvSpPr>
          <p:cNvPr id="24" name="Shape 22"/>
          <p:cNvSpPr/>
          <p:nvPr/>
        </p:nvSpPr>
        <p:spPr>
          <a:xfrm>
            <a:off x="3429000" y="2788920"/>
            <a:ext cx="2286000" cy="64008"/>
          </a:xfrm>
          <a:prstGeom prst="rect">
            <a:avLst/>
          </a:prstGeom>
          <a:solidFill>
            <a:schemeClr val="accent2"/>
          </a:solidFill>
          <a:ln w="12700">
            <a:solidFill>
              <a:schemeClr val="accent2"/>
            </a:solidFill>
            <a:prstDash val="solid"/>
          </a:ln>
        </p:spPr>
      </p:sp>
      <p:sp>
        <p:nvSpPr>
          <p:cNvPr id="25" name="Text 23"/>
          <p:cNvSpPr txBox="1"/>
          <p:nvPr/>
        </p:nvSpPr>
        <p:spPr>
          <a:xfrm>
            <a:off x="3474720" y="297180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pi</a:t>
            </a:r>
            <a:endParaRPr lang="en-US" sz="1500" dirty="0"/>
          </a:p>
        </p:txBody>
      </p:sp>
      <p:sp>
        <p:nvSpPr>
          <p:cNvPr id="26" name="Text 24"/>
          <p:cNvSpPr txBox="1"/>
          <p:nvPr/>
        </p:nvSpPr>
        <p:spPr>
          <a:xfrm>
            <a:off x="3474720" y="338328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Final sorted index of the pivot, equal to i + 1.</a:t>
            </a:r>
            <a:endParaRPr lang="en-US" sz="1150" dirty="0"/>
          </a:p>
        </p:txBody>
      </p:sp>
      <p:sp>
        <p:nvSpPr>
          <p:cNvPr id="27" name="Shape 25"/>
          <p:cNvSpPr/>
          <p:nvPr/>
        </p:nvSpPr>
        <p:spPr>
          <a:xfrm>
            <a:off x="6035040" y="2788920"/>
            <a:ext cx="2560320" cy="1325880"/>
          </a:xfrm>
          <a:prstGeom prst="roundRect">
            <a:avLst>
              <a:gd name="adj" fmla="val 6897"/>
            </a:avLst>
          </a:prstGeom>
          <a:solidFill>
            <a:schemeClr val="bg1"/>
          </a:solidFill>
          <a:ln w="12700">
            <a:solidFill>
              <a:srgbClr val="E3DED4"/>
            </a:solidFill>
            <a:prstDash val="solid"/>
          </a:ln>
        </p:spPr>
      </p:sp>
      <p:sp>
        <p:nvSpPr>
          <p:cNvPr id="28" name="Shape 26"/>
          <p:cNvSpPr/>
          <p:nvPr/>
        </p:nvSpPr>
        <p:spPr>
          <a:xfrm>
            <a:off x="6172200" y="2788920"/>
            <a:ext cx="2286000" cy="64008"/>
          </a:xfrm>
          <a:prstGeom prst="rect">
            <a:avLst/>
          </a:prstGeom>
          <a:solidFill>
            <a:schemeClr val="accent3"/>
          </a:solidFill>
          <a:ln w="12700">
            <a:solidFill>
              <a:schemeClr val="accent3"/>
            </a:solidFill>
            <a:prstDash val="solid"/>
          </a:ln>
        </p:spPr>
      </p:sp>
      <p:sp>
        <p:nvSpPr>
          <p:cNvPr id="29" name="Text 27"/>
          <p:cNvSpPr txBox="1"/>
          <p:nvPr/>
        </p:nvSpPr>
        <p:spPr>
          <a:xfrm>
            <a:off x="6217920" y="297180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main()</a:t>
            </a:r>
            <a:endParaRPr lang="en-US" sz="1500" dirty="0"/>
          </a:p>
        </p:txBody>
      </p:sp>
      <p:sp>
        <p:nvSpPr>
          <p:cNvPr id="30" name="Text 28"/>
          <p:cNvSpPr txBox="1"/>
          <p:nvPr/>
        </p:nvSpPr>
        <p:spPr>
          <a:xfrm>
            <a:off x="6217920" y="3383280"/>
            <a:ext cx="2194560" cy="640080"/>
          </a:xfrm>
          <a:prstGeom prst="rect">
            <a:avLst/>
          </a:prstGeom>
          <a:noFill/>
          <a:ln/>
        </p:spPr>
        <p:txBody>
          <a:bodyPr wrap="square" lIns="0" tIns="0" rIns="0" bIns="0" rtlCol="0" anchor="t"/>
          <a:lstStyle/>
          <a:p>
            <a:pPr indent="0" marL="0">
              <a:spcAft>
                <a:spcPts val="600"/>
              </a:spcAft>
              <a:buNone/>
            </a:pPr>
            <a:r>
              <a:rPr lang="en-US" sz="1150" dirty="0">
                <a:solidFill>
                  <a:schemeClr val="tx2"/>
                </a:solidFill>
              </a:rPr>
              <a:t>Reads n and the array, prints it, calls quickSort(arr, 0, n - 1), prints again.</a:t>
            </a:r>
            <a:endParaRPr lang="en-US" sz="1150" dirty="0"/>
          </a:p>
        </p:txBody>
      </p:sp>
      <p:sp>
        <p:nvSpPr>
          <p:cNvPr id="31" name="Text 29"/>
          <p:cNvSpPr txBox="1"/>
          <p:nvPr/>
        </p:nvSpPr>
        <p:spPr>
          <a:xfrm>
            <a:off x="548640" y="4343400"/>
            <a:ext cx="8046720" cy="274320"/>
          </a:xfrm>
          <a:prstGeom prst="rect">
            <a:avLst/>
          </a:prstGeom>
          <a:noFill/>
          <a:ln/>
        </p:spPr>
        <p:txBody>
          <a:bodyPr wrap="square" lIns="0" tIns="0" rIns="0" bIns="0" rtlCol="0" anchor="ctr"/>
          <a:lstStyle/>
          <a:p>
            <a:pPr algn="ctr" indent="0" marL="0">
              <a:buNone/>
            </a:pPr>
            <a:r>
              <a:rPr lang="en-US" sz="1300" b="1" dirty="0">
                <a:solidFill>
                  <a:schemeClr val="tx1"/>
                </a:solidFill>
              </a:rPr>
              <a:t>The condition low &lt; high prevents endless recursion. If a part has one element or none, nothing is done.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8. Sample Input and Output</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Example from the practice question</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822960" y="1371600"/>
            <a:ext cx="3383280" cy="1920240"/>
          </a:xfrm>
          <a:prstGeom prst="roundRect">
            <a:avLst>
              <a:gd name="adj" fmla="val 4762"/>
            </a:avLst>
          </a:prstGeom>
          <a:solidFill>
            <a:schemeClr val="bg1"/>
          </a:solidFill>
          <a:ln w="12700">
            <a:solidFill>
              <a:srgbClr val="E3DED4"/>
            </a:solidFill>
            <a:prstDash val="solid"/>
          </a:ln>
        </p:spPr>
      </p:sp>
      <p:sp>
        <p:nvSpPr>
          <p:cNvPr id="8" name="Shape 6"/>
          <p:cNvSpPr/>
          <p:nvPr/>
        </p:nvSpPr>
        <p:spPr>
          <a:xfrm>
            <a:off x="960120" y="1371600"/>
            <a:ext cx="3108960" cy="64008"/>
          </a:xfrm>
          <a:prstGeom prst="rect">
            <a:avLst/>
          </a:prstGeom>
          <a:solidFill>
            <a:schemeClr val="accent2"/>
          </a:solidFill>
          <a:ln w="12700">
            <a:solidFill>
              <a:schemeClr val="accent2"/>
            </a:solidFill>
            <a:prstDash val="solid"/>
          </a:ln>
        </p:spPr>
      </p:sp>
      <p:sp>
        <p:nvSpPr>
          <p:cNvPr id="9" name="Text 7"/>
          <p:cNvSpPr txBox="1"/>
          <p:nvPr/>
        </p:nvSpPr>
        <p:spPr>
          <a:xfrm>
            <a:off x="1005840" y="155448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INPUT</a:t>
            </a:r>
            <a:endParaRPr lang="en-US" sz="1600" dirty="0"/>
          </a:p>
        </p:txBody>
      </p:sp>
      <p:sp>
        <p:nvSpPr>
          <p:cNvPr id="10" name="Text 8"/>
          <p:cNvSpPr txBox="1"/>
          <p:nvPr/>
        </p:nvSpPr>
        <p:spPr>
          <a:xfrm>
            <a:off x="1005840" y="1965960"/>
            <a:ext cx="3017520" cy="1234440"/>
          </a:xfrm>
          <a:prstGeom prst="rect">
            <a:avLst/>
          </a:prstGeom>
          <a:noFill/>
          <a:ln/>
        </p:spPr>
        <p:txBody>
          <a:bodyPr wrap="square" lIns="0" tIns="0" rIns="0" bIns="0" rtlCol="0" anchor="t"/>
          <a:lstStyle/>
          <a:p>
            <a:pPr indent="0" marL="0">
              <a:spcAft>
                <a:spcPts val="600"/>
              </a:spcAft>
              <a:buNone/>
            </a:pPr>
            <a:r>
              <a:rPr lang="en-US" sz="2000" dirty="0">
                <a:solidFill>
                  <a:schemeClr val="tx2"/>
                </a:solidFill>
              </a:rPr>
              <a:t>6</a:t>
            </a:r>
            <a:endParaRPr lang="en-US" sz="2000" dirty="0"/>
          </a:p>
          <a:p>
            <a:pPr indent="0" marL="0">
              <a:spcAft>
                <a:spcPts val="600"/>
              </a:spcAft>
              <a:buNone/>
            </a:pPr>
            <a:r>
              <a:rPr lang="en-US" sz="2000" dirty="0">
                <a:solidFill>
                  <a:schemeClr val="tx2"/>
                </a:solidFill>
              </a:rPr>
              <a:t>10 7 8 9 1 5</a:t>
            </a:r>
            <a:endParaRPr lang="en-US" sz="2000" dirty="0"/>
          </a:p>
        </p:txBody>
      </p:sp>
      <p:sp>
        <p:nvSpPr>
          <p:cNvPr id="11" name="Shape 9"/>
          <p:cNvSpPr/>
          <p:nvPr/>
        </p:nvSpPr>
        <p:spPr>
          <a:xfrm>
            <a:off x="4937760" y="1371600"/>
            <a:ext cx="3383280" cy="1920240"/>
          </a:xfrm>
          <a:prstGeom prst="roundRect">
            <a:avLst>
              <a:gd name="adj" fmla="val 4762"/>
            </a:avLst>
          </a:prstGeom>
          <a:solidFill>
            <a:schemeClr val="bg1"/>
          </a:solidFill>
          <a:ln w="12700">
            <a:solidFill>
              <a:srgbClr val="E3DED4"/>
            </a:solidFill>
            <a:prstDash val="solid"/>
          </a:ln>
        </p:spPr>
      </p:sp>
      <p:sp>
        <p:nvSpPr>
          <p:cNvPr id="12" name="Shape 10"/>
          <p:cNvSpPr/>
          <p:nvPr/>
        </p:nvSpPr>
        <p:spPr>
          <a:xfrm>
            <a:off x="5074920" y="1371600"/>
            <a:ext cx="3108960" cy="64008"/>
          </a:xfrm>
          <a:prstGeom prst="rect">
            <a:avLst/>
          </a:prstGeom>
          <a:solidFill>
            <a:schemeClr val="accent3"/>
          </a:solidFill>
          <a:ln w="12700">
            <a:solidFill>
              <a:schemeClr val="accent3"/>
            </a:solidFill>
            <a:prstDash val="solid"/>
          </a:ln>
        </p:spPr>
      </p:sp>
      <p:sp>
        <p:nvSpPr>
          <p:cNvPr id="13" name="Text 11"/>
          <p:cNvSpPr txBox="1"/>
          <p:nvPr/>
        </p:nvSpPr>
        <p:spPr>
          <a:xfrm>
            <a:off x="5120640" y="155448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OUTPUT</a:t>
            </a:r>
            <a:endParaRPr lang="en-US" sz="1600" dirty="0"/>
          </a:p>
        </p:txBody>
      </p:sp>
      <p:sp>
        <p:nvSpPr>
          <p:cNvPr id="14" name="Text 12"/>
          <p:cNvSpPr txBox="1"/>
          <p:nvPr/>
        </p:nvSpPr>
        <p:spPr>
          <a:xfrm>
            <a:off x="5120640" y="1965960"/>
            <a:ext cx="3017520" cy="1234440"/>
          </a:xfrm>
          <a:prstGeom prst="rect">
            <a:avLst/>
          </a:prstGeom>
          <a:noFill/>
          <a:ln/>
        </p:spPr>
        <p:txBody>
          <a:bodyPr wrap="square" lIns="0" tIns="0" rIns="0" bIns="0" rtlCol="0" anchor="t"/>
          <a:lstStyle/>
          <a:p>
            <a:pPr indent="0" marL="0">
              <a:spcAft>
                <a:spcPts val="600"/>
              </a:spcAft>
              <a:buNone/>
            </a:pPr>
            <a:r>
              <a:rPr lang="en-US" sz="2000" dirty="0">
                <a:solidFill>
                  <a:schemeClr val="tx2"/>
                </a:solidFill>
              </a:rPr>
              <a:t>10 7 8 9 1 5</a:t>
            </a:r>
            <a:endParaRPr lang="en-US" sz="2000" dirty="0"/>
          </a:p>
          <a:p>
            <a:pPr indent="0" marL="0">
              <a:spcAft>
                <a:spcPts val="600"/>
              </a:spcAft>
              <a:buNone/>
            </a:pPr>
            <a:r>
              <a:rPr lang="en-US" sz="2000" dirty="0">
                <a:solidFill>
                  <a:schemeClr val="tx2"/>
                </a:solidFill>
              </a:rPr>
              <a:t>1 5 7 8 9 10</a:t>
            </a:r>
            <a:endParaRPr lang="en-US" sz="2000" dirty="0"/>
          </a:p>
        </p:txBody>
      </p:sp>
      <p:sp>
        <p:nvSpPr>
          <p:cNvPr id="15" name="Text 13"/>
          <p:cNvSpPr txBox="1"/>
          <p:nvPr/>
        </p:nvSpPr>
        <p:spPr>
          <a:xfrm>
            <a:off x="548640" y="3611880"/>
            <a:ext cx="8046720" cy="365760"/>
          </a:xfrm>
          <a:prstGeom prst="rect">
            <a:avLst/>
          </a:prstGeom>
          <a:noFill/>
          <a:ln/>
        </p:spPr>
        <p:txBody>
          <a:bodyPr wrap="square" lIns="0" tIns="0" rIns="0" bIns="0" rtlCol="0" anchor="ctr"/>
          <a:lstStyle/>
          <a:p>
            <a:pPr algn="ctr" indent="0" marL="0">
              <a:buNone/>
            </a:pPr>
            <a:r>
              <a:rPr lang="en-US" sz="1600" b="1" dirty="0">
                <a:solidFill>
                  <a:schemeClr val="tx1"/>
                </a:solidFill>
              </a:rPr>
              <a:t>The program prints the array before sorting, then after sorting.</a:t>
            </a:r>
            <a:endParaRPr lang="en-US" sz="1600" dirty="0"/>
          </a:p>
        </p:txBody>
      </p:sp>
      <p:sp>
        <p:nvSpPr>
          <p:cNvPr id="16" name="Text 14"/>
          <p:cNvSpPr txBox="1"/>
          <p:nvPr/>
        </p:nvSpPr>
        <p:spPr>
          <a:xfrm>
            <a:off x="548640" y="4069080"/>
            <a:ext cx="8046720" cy="274320"/>
          </a:xfrm>
          <a:prstGeom prst="rect">
            <a:avLst/>
          </a:prstGeom>
          <a:noFill/>
          <a:ln/>
        </p:spPr>
        <p:txBody>
          <a:bodyPr wrap="square" lIns="0" tIns="0" rIns="0" bIns="0" rtlCol="0" anchor="ctr"/>
          <a:lstStyle/>
          <a:p>
            <a:pPr algn="ctr" indent="0" marL="0">
              <a:buNone/>
            </a:pPr>
            <a:r>
              <a:rPr lang="en-US" sz="1300" dirty="0">
                <a:solidFill>
                  <a:schemeClr val="accent6"/>
                </a:solidFill>
              </a:rPr>
              <a:t>First line: n.  Second line: n space-separated integers.  Constraint: 1 ≤ n ≤ 1000.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9. Time and Space Complexity</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Useful facts for your viva</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325880"/>
            <a:ext cx="2560320" cy="1097280"/>
          </a:xfrm>
          <a:prstGeom prst="roundRect">
            <a:avLst>
              <a:gd name="adj" fmla="val 8333"/>
            </a:avLst>
          </a:prstGeom>
          <a:solidFill>
            <a:schemeClr val="bg1"/>
          </a:solidFill>
          <a:ln w="12700">
            <a:solidFill>
              <a:srgbClr val="E3DED4"/>
            </a:solidFill>
            <a:prstDash val="solid"/>
          </a:ln>
        </p:spPr>
      </p:sp>
      <p:sp>
        <p:nvSpPr>
          <p:cNvPr id="8" name="Shape 6"/>
          <p:cNvSpPr/>
          <p:nvPr/>
        </p:nvSpPr>
        <p:spPr>
          <a:xfrm>
            <a:off x="685800" y="1325880"/>
            <a:ext cx="2286000" cy="64008"/>
          </a:xfrm>
          <a:prstGeom prst="rect">
            <a:avLst/>
          </a:prstGeom>
          <a:solidFill>
            <a:schemeClr val="accent3"/>
          </a:solidFill>
          <a:ln w="12700">
            <a:solidFill>
              <a:schemeClr val="accent3"/>
            </a:solidFill>
            <a:prstDash val="solid"/>
          </a:ln>
        </p:spPr>
      </p:sp>
      <p:sp>
        <p:nvSpPr>
          <p:cNvPr id="9" name="Text 7"/>
          <p:cNvSpPr txBox="1"/>
          <p:nvPr/>
        </p:nvSpPr>
        <p:spPr>
          <a:xfrm>
            <a:off x="731520" y="150876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Best case</a:t>
            </a:r>
            <a:endParaRPr lang="en-US" sz="1600" dirty="0"/>
          </a:p>
        </p:txBody>
      </p:sp>
      <p:sp>
        <p:nvSpPr>
          <p:cNvPr id="10" name="Text 8"/>
          <p:cNvSpPr txBox="1"/>
          <p:nvPr/>
        </p:nvSpPr>
        <p:spPr>
          <a:xfrm>
            <a:off x="731520" y="1920240"/>
            <a:ext cx="2194560" cy="411480"/>
          </a:xfrm>
          <a:prstGeom prst="rect">
            <a:avLst/>
          </a:prstGeom>
          <a:noFill/>
          <a:ln/>
        </p:spPr>
        <p:txBody>
          <a:bodyPr wrap="square" lIns="0" tIns="0" rIns="0" bIns="0" rtlCol="0" anchor="t"/>
          <a:lstStyle/>
          <a:p>
            <a:pPr indent="0" marL="0">
              <a:spcAft>
                <a:spcPts val="600"/>
              </a:spcAft>
              <a:buNone/>
            </a:pPr>
            <a:r>
              <a:rPr lang="en-US" sz="2000" dirty="0">
                <a:solidFill>
                  <a:schemeClr val="tx2"/>
                </a:solidFill>
              </a:rPr>
              <a:t>O(n log n)</a:t>
            </a:r>
            <a:endParaRPr lang="en-US" sz="2000" dirty="0"/>
          </a:p>
        </p:txBody>
      </p:sp>
      <p:sp>
        <p:nvSpPr>
          <p:cNvPr id="11" name="Shape 9"/>
          <p:cNvSpPr/>
          <p:nvPr/>
        </p:nvSpPr>
        <p:spPr>
          <a:xfrm>
            <a:off x="3291840" y="1325880"/>
            <a:ext cx="2560320" cy="1097280"/>
          </a:xfrm>
          <a:prstGeom prst="roundRect">
            <a:avLst>
              <a:gd name="adj" fmla="val 8333"/>
            </a:avLst>
          </a:prstGeom>
          <a:solidFill>
            <a:schemeClr val="bg1"/>
          </a:solidFill>
          <a:ln w="12700">
            <a:solidFill>
              <a:srgbClr val="E3DED4"/>
            </a:solidFill>
            <a:prstDash val="solid"/>
          </a:ln>
        </p:spPr>
      </p:sp>
      <p:sp>
        <p:nvSpPr>
          <p:cNvPr id="12" name="Shape 10"/>
          <p:cNvSpPr/>
          <p:nvPr/>
        </p:nvSpPr>
        <p:spPr>
          <a:xfrm>
            <a:off x="3429000" y="1325880"/>
            <a:ext cx="2286000" cy="64008"/>
          </a:xfrm>
          <a:prstGeom prst="rect">
            <a:avLst/>
          </a:prstGeom>
          <a:solidFill>
            <a:schemeClr val="accent2"/>
          </a:solidFill>
          <a:ln w="12700">
            <a:solidFill>
              <a:schemeClr val="accent2"/>
            </a:solidFill>
            <a:prstDash val="solid"/>
          </a:ln>
        </p:spPr>
      </p:sp>
      <p:sp>
        <p:nvSpPr>
          <p:cNvPr id="13" name="Text 11"/>
          <p:cNvSpPr txBox="1"/>
          <p:nvPr/>
        </p:nvSpPr>
        <p:spPr>
          <a:xfrm>
            <a:off x="3474720" y="150876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Average case</a:t>
            </a:r>
            <a:endParaRPr lang="en-US" sz="1600" dirty="0"/>
          </a:p>
        </p:txBody>
      </p:sp>
      <p:sp>
        <p:nvSpPr>
          <p:cNvPr id="14" name="Text 12"/>
          <p:cNvSpPr txBox="1"/>
          <p:nvPr/>
        </p:nvSpPr>
        <p:spPr>
          <a:xfrm>
            <a:off x="3474720" y="1920240"/>
            <a:ext cx="2194560" cy="411480"/>
          </a:xfrm>
          <a:prstGeom prst="rect">
            <a:avLst/>
          </a:prstGeom>
          <a:noFill/>
          <a:ln/>
        </p:spPr>
        <p:txBody>
          <a:bodyPr wrap="square" lIns="0" tIns="0" rIns="0" bIns="0" rtlCol="0" anchor="t"/>
          <a:lstStyle/>
          <a:p>
            <a:pPr indent="0" marL="0">
              <a:spcAft>
                <a:spcPts val="600"/>
              </a:spcAft>
              <a:buNone/>
            </a:pPr>
            <a:r>
              <a:rPr lang="en-US" sz="2000" dirty="0">
                <a:solidFill>
                  <a:schemeClr val="tx2"/>
                </a:solidFill>
              </a:rPr>
              <a:t>O(n log n)</a:t>
            </a:r>
            <a:endParaRPr lang="en-US" sz="2000" dirty="0"/>
          </a:p>
        </p:txBody>
      </p:sp>
      <p:sp>
        <p:nvSpPr>
          <p:cNvPr id="15" name="Shape 13"/>
          <p:cNvSpPr/>
          <p:nvPr/>
        </p:nvSpPr>
        <p:spPr>
          <a:xfrm>
            <a:off x="6035040" y="1325880"/>
            <a:ext cx="2560320" cy="1097280"/>
          </a:xfrm>
          <a:prstGeom prst="roundRect">
            <a:avLst>
              <a:gd name="adj" fmla="val 8333"/>
            </a:avLst>
          </a:prstGeom>
          <a:solidFill>
            <a:schemeClr val="bg1"/>
          </a:solidFill>
          <a:ln w="12700">
            <a:solidFill>
              <a:srgbClr val="E3DED4"/>
            </a:solidFill>
            <a:prstDash val="solid"/>
          </a:ln>
        </p:spPr>
      </p:sp>
      <p:sp>
        <p:nvSpPr>
          <p:cNvPr id="16" name="Shape 14"/>
          <p:cNvSpPr/>
          <p:nvPr/>
        </p:nvSpPr>
        <p:spPr>
          <a:xfrm>
            <a:off x="6172200" y="1325880"/>
            <a:ext cx="2286000" cy="64008"/>
          </a:xfrm>
          <a:prstGeom prst="rect">
            <a:avLst/>
          </a:prstGeom>
          <a:solidFill>
            <a:schemeClr val="accent1"/>
          </a:solidFill>
          <a:ln w="12700">
            <a:solidFill>
              <a:schemeClr val="accent1"/>
            </a:solidFill>
            <a:prstDash val="solid"/>
          </a:ln>
        </p:spPr>
      </p:sp>
      <p:sp>
        <p:nvSpPr>
          <p:cNvPr id="17" name="Text 15"/>
          <p:cNvSpPr txBox="1"/>
          <p:nvPr/>
        </p:nvSpPr>
        <p:spPr>
          <a:xfrm>
            <a:off x="6217920" y="150876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Worst case</a:t>
            </a:r>
            <a:endParaRPr lang="en-US" sz="1600" dirty="0"/>
          </a:p>
        </p:txBody>
      </p:sp>
      <p:sp>
        <p:nvSpPr>
          <p:cNvPr id="18" name="Text 16"/>
          <p:cNvSpPr txBox="1"/>
          <p:nvPr/>
        </p:nvSpPr>
        <p:spPr>
          <a:xfrm>
            <a:off x="6217920" y="1920240"/>
            <a:ext cx="2194560" cy="411480"/>
          </a:xfrm>
          <a:prstGeom prst="rect">
            <a:avLst/>
          </a:prstGeom>
          <a:noFill/>
          <a:ln/>
        </p:spPr>
        <p:txBody>
          <a:bodyPr wrap="square" lIns="0" tIns="0" rIns="0" bIns="0" rtlCol="0" anchor="t"/>
          <a:lstStyle/>
          <a:p>
            <a:pPr indent="0" marL="0">
              <a:spcAft>
                <a:spcPts val="600"/>
              </a:spcAft>
              <a:buNone/>
            </a:pPr>
            <a:r>
              <a:rPr lang="en-US" sz="2000" dirty="0">
                <a:solidFill>
                  <a:schemeClr val="tx2"/>
                </a:solidFill>
              </a:rPr>
              <a:t>O(n²)</a:t>
            </a:r>
            <a:endParaRPr lang="en-US" sz="2000" dirty="0"/>
          </a:p>
        </p:txBody>
      </p:sp>
      <p:sp>
        <p:nvSpPr>
          <p:cNvPr id="19" name="Shape 17"/>
          <p:cNvSpPr/>
          <p:nvPr/>
        </p:nvSpPr>
        <p:spPr>
          <a:xfrm>
            <a:off x="548640" y="2606040"/>
            <a:ext cx="2560320" cy="1234440"/>
          </a:xfrm>
          <a:prstGeom prst="roundRect">
            <a:avLst>
              <a:gd name="adj" fmla="val 7407"/>
            </a:avLst>
          </a:prstGeom>
          <a:solidFill>
            <a:schemeClr val="bg1"/>
          </a:solidFill>
          <a:ln w="12700">
            <a:solidFill>
              <a:srgbClr val="E3DED4"/>
            </a:solidFill>
            <a:prstDash val="solid"/>
          </a:ln>
        </p:spPr>
      </p:sp>
      <p:sp>
        <p:nvSpPr>
          <p:cNvPr id="20" name="Shape 18"/>
          <p:cNvSpPr/>
          <p:nvPr/>
        </p:nvSpPr>
        <p:spPr>
          <a:xfrm>
            <a:off x="685800" y="2606040"/>
            <a:ext cx="2286000" cy="64008"/>
          </a:xfrm>
          <a:prstGeom prst="rect">
            <a:avLst/>
          </a:prstGeom>
          <a:solidFill>
            <a:schemeClr val="accent2"/>
          </a:solidFill>
          <a:ln w="12700">
            <a:solidFill>
              <a:schemeClr val="accent2"/>
            </a:solidFill>
            <a:prstDash val="solid"/>
          </a:ln>
        </p:spPr>
      </p:sp>
      <p:sp>
        <p:nvSpPr>
          <p:cNvPr id="21" name="Text 19"/>
          <p:cNvSpPr txBox="1"/>
          <p:nvPr/>
        </p:nvSpPr>
        <p:spPr>
          <a:xfrm>
            <a:off x="731520" y="278892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Extra space</a:t>
            </a:r>
            <a:endParaRPr lang="en-US" sz="1500" dirty="0"/>
          </a:p>
        </p:txBody>
      </p:sp>
      <p:sp>
        <p:nvSpPr>
          <p:cNvPr id="22" name="Text 20"/>
          <p:cNvSpPr txBox="1"/>
          <p:nvPr/>
        </p:nvSpPr>
        <p:spPr>
          <a:xfrm>
            <a:off x="731520" y="3200400"/>
            <a:ext cx="2194560" cy="54864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O(log n) on average for the recursion stack; O(n) in the worst case.</a:t>
            </a:r>
            <a:endParaRPr lang="en-US" sz="1200" dirty="0"/>
          </a:p>
        </p:txBody>
      </p:sp>
      <p:sp>
        <p:nvSpPr>
          <p:cNvPr id="23" name="Shape 21"/>
          <p:cNvSpPr/>
          <p:nvPr/>
        </p:nvSpPr>
        <p:spPr>
          <a:xfrm>
            <a:off x="3291840" y="2606040"/>
            <a:ext cx="2560320" cy="1234440"/>
          </a:xfrm>
          <a:prstGeom prst="roundRect">
            <a:avLst>
              <a:gd name="adj" fmla="val 7407"/>
            </a:avLst>
          </a:prstGeom>
          <a:solidFill>
            <a:schemeClr val="bg1"/>
          </a:solidFill>
          <a:ln w="12700">
            <a:solidFill>
              <a:srgbClr val="E3DED4"/>
            </a:solidFill>
            <a:prstDash val="solid"/>
          </a:ln>
        </p:spPr>
      </p:sp>
      <p:sp>
        <p:nvSpPr>
          <p:cNvPr id="24" name="Shape 22"/>
          <p:cNvSpPr/>
          <p:nvPr/>
        </p:nvSpPr>
        <p:spPr>
          <a:xfrm>
            <a:off x="3429000" y="2606040"/>
            <a:ext cx="2286000" cy="64008"/>
          </a:xfrm>
          <a:prstGeom prst="rect">
            <a:avLst/>
          </a:prstGeom>
          <a:solidFill>
            <a:schemeClr val="accent1"/>
          </a:solidFill>
          <a:ln w="12700">
            <a:solidFill>
              <a:schemeClr val="accent1"/>
            </a:solidFill>
            <a:prstDash val="solid"/>
          </a:ln>
        </p:spPr>
      </p:sp>
      <p:sp>
        <p:nvSpPr>
          <p:cNvPr id="25" name="Text 23"/>
          <p:cNvSpPr txBox="1"/>
          <p:nvPr/>
        </p:nvSpPr>
        <p:spPr>
          <a:xfrm>
            <a:off x="3474720" y="278892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Stable sort?</a:t>
            </a:r>
            <a:endParaRPr lang="en-US" sz="1500" dirty="0"/>
          </a:p>
        </p:txBody>
      </p:sp>
      <p:sp>
        <p:nvSpPr>
          <p:cNvPr id="26" name="Text 24"/>
          <p:cNvSpPr txBox="1"/>
          <p:nvPr/>
        </p:nvSpPr>
        <p:spPr>
          <a:xfrm>
            <a:off x="3474720" y="3200400"/>
            <a:ext cx="2194560" cy="54864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No. Equal values may change their relative order.</a:t>
            </a:r>
            <a:endParaRPr lang="en-US" sz="1200" dirty="0"/>
          </a:p>
        </p:txBody>
      </p:sp>
      <p:sp>
        <p:nvSpPr>
          <p:cNvPr id="27" name="Shape 25"/>
          <p:cNvSpPr/>
          <p:nvPr/>
        </p:nvSpPr>
        <p:spPr>
          <a:xfrm>
            <a:off x="6035040" y="2606040"/>
            <a:ext cx="2560320" cy="1234440"/>
          </a:xfrm>
          <a:prstGeom prst="roundRect">
            <a:avLst>
              <a:gd name="adj" fmla="val 7407"/>
            </a:avLst>
          </a:prstGeom>
          <a:solidFill>
            <a:schemeClr val="bg1"/>
          </a:solidFill>
          <a:ln w="12700">
            <a:solidFill>
              <a:srgbClr val="E3DED4"/>
            </a:solidFill>
            <a:prstDash val="solid"/>
          </a:ln>
        </p:spPr>
      </p:sp>
      <p:sp>
        <p:nvSpPr>
          <p:cNvPr id="28" name="Shape 26"/>
          <p:cNvSpPr/>
          <p:nvPr/>
        </p:nvSpPr>
        <p:spPr>
          <a:xfrm>
            <a:off x="6172200" y="2606040"/>
            <a:ext cx="2286000" cy="64008"/>
          </a:xfrm>
          <a:prstGeom prst="rect">
            <a:avLst/>
          </a:prstGeom>
          <a:solidFill>
            <a:schemeClr val="accent3"/>
          </a:solidFill>
          <a:ln w="12700">
            <a:solidFill>
              <a:schemeClr val="accent3"/>
            </a:solidFill>
            <a:prstDash val="solid"/>
          </a:ln>
        </p:spPr>
      </p:sp>
      <p:sp>
        <p:nvSpPr>
          <p:cNvPr id="29" name="Text 27"/>
          <p:cNvSpPr txBox="1"/>
          <p:nvPr/>
        </p:nvSpPr>
        <p:spPr>
          <a:xfrm>
            <a:off x="6217920" y="278892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In-place?</a:t>
            </a:r>
            <a:endParaRPr lang="en-US" sz="1500" dirty="0"/>
          </a:p>
        </p:txBody>
      </p:sp>
      <p:sp>
        <p:nvSpPr>
          <p:cNvPr id="30" name="Text 28"/>
          <p:cNvSpPr txBox="1"/>
          <p:nvPr/>
        </p:nvSpPr>
        <p:spPr>
          <a:xfrm>
            <a:off x="6217920" y="3200400"/>
            <a:ext cx="2194560" cy="54864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Yes. No second array is needed.</a:t>
            </a:r>
            <a:endParaRPr lang="en-US" sz="1200" dirty="0"/>
          </a:p>
        </p:txBody>
      </p:sp>
      <p:sp>
        <p:nvSpPr>
          <p:cNvPr id="31" name="Text 29"/>
          <p:cNvSpPr txBox="1"/>
          <p:nvPr/>
        </p:nvSpPr>
        <p:spPr>
          <a:xfrm>
            <a:off x="548640" y="4023360"/>
            <a:ext cx="8046720" cy="548640"/>
          </a:xfrm>
          <a:prstGeom prst="rect">
            <a:avLst/>
          </a:prstGeom>
          <a:noFill/>
          <a:ln/>
        </p:spPr>
        <p:txBody>
          <a:bodyPr wrap="square" lIns="0" tIns="0" rIns="0" bIns="0" rtlCol="0" anchor="ctr"/>
          <a:lstStyle/>
          <a:p>
            <a:pPr algn="ctr" indent="0" marL="0">
              <a:buNone/>
            </a:pPr>
            <a:r>
              <a:rPr lang="en-US" sz="1200" dirty="0">
                <a:solidFill>
                  <a:schemeClr val="accent6"/>
                </a:solidFill>
              </a:rPr>
              <a:t>Why? Balanced splits give about log n levels with n work each. If the pivot is always the smallest or largest (for example a sorted array with the last element as pivot), there are n levels.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chemeClr val="tx1"/>
                </a:solidFill>
              </a:rPr>
              <a:t>10. Advantages and Limitations</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chemeClr val="accent2"/>
                </a:solidFill>
              </a:rPr>
              <a:t>Every algorithm has trade-offs</a:t>
            </a:r>
            <a:endParaRPr lang="en-US" sz="1400" dirty="0"/>
          </a:p>
        </p:txBody>
      </p:sp>
      <p:sp>
        <p:nvSpPr>
          <p:cNvPr id="4" name="Shape 2"/>
          <p:cNvSpPr/>
          <p:nvPr/>
        </p:nvSpPr>
        <p:spPr>
          <a:xfrm>
            <a:off x="8138160" y="320040"/>
            <a:ext cx="457200" cy="365760"/>
          </a:xfrm>
          <a:prstGeom prst="roundRect">
            <a:avLst>
              <a:gd name="adj" fmla="val 20000"/>
            </a:avLst>
          </a:prstGeom>
          <a:solidFill>
            <a:schemeClr val="accent1"/>
          </a:solidFill>
          <a:ln w="12700">
            <a:solidFill>
              <a:schemeClr val="accent1"/>
            </a:solidFill>
            <a:prstDash val="solid"/>
          </a:ln>
        </p:spPr>
      </p:sp>
      <p:sp>
        <p:nvSpPr>
          <p:cNvPr id="5" name="Text 3"/>
          <p:cNvSpPr txBox="1"/>
          <p:nvPr/>
        </p:nvSpPr>
        <p:spPr>
          <a:xfrm>
            <a:off x="8138160" y="320040"/>
            <a:ext cx="457200" cy="365760"/>
          </a:xfrm>
          <a:prstGeom prst="rect">
            <a:avLst/>
          </a:prstGeom>
          <a:noFill/>
          <a:ln/>
        </p:spPr>
        <p:txBody>
          <a:bodyPr wrap="square" lIns="0" tIns="0" rIns="0" bIns="0" rtlCol="0" anchor="ctr"/>
          <a:lstStyle/>
          <a:p>
            <a:pPr algn="ctr" indent="0" marL="0">
              <a:buNone/>
            </a:pPr>
            <a:r>
              <a:rPr lang="en-US" sz="1400" b="1" dirty="0">
                <a:solidFill>
                  <a:srgbClr val="FFFFFF"/>
                </a:solidFill>
              </a:rPr>
              <a:t>11</a:t>
            </a:r>
            <a:endParaRPr lang="en-US" sz="1400" dirty="0"/>
          </a:p>
        </p:txBody>
      </p:sp>
      <p:sp>
        <p:nvSpPr>
          <p:cNvPr id="6" name="Text 4"/>
          <p:cNvSpPr txBox="1"/>
          <p:nvPr/>
        </p:nvSpPr>
        <p:spPr>
          <a:xfrm>
            <a:off x="548640" y="4754880"/>
            <a:ext cx="4572000" cy="228600"/>
          </a:xfrm>
          <a:prstGeom prst="rect">
            <a:avLst/>
          </a:prstGeom>
          <a:noFill/>
          <a:ln/>
        </p:spPr>
        <p:txBody>
          <a:bodyPr wrap="square" lIns="0" tIns="0" rIns="0" bIns="0" rtlCol="0" anchor="ctr"/>
          <a:lstStyle/>
          <a:p>
            <a:pPr indent="0" marL="0">
              <a:buNone/>
            </a:pPr>
            <a:r>
              <a:rPr lang="en-US" sz="900" b="1" dirty="0">
                <a:solidFill>
                  <a:schemeClr val="accent6"/>
                </a:solidFill>
              </a:rPr>
              <a:t>QUICK SORT  •  DATA STRUCTURES</a:t>
            </a:r>
            <a:endParaRPr lang="en-US" sz="900" dirty="0"/>
          </a:p>
        </p:txBody>
      </p:sp>
      <p:sp>
        <p:nvSpPr>
          <p:cNvPr id="7" name="Shape 5"/>
          <p:cNvSpPr/>
          <p:nvPr/>
        </p:nvSpPr>
        <p:spPr>
          <a:xfrm>
            <a:off x="548640" y="1325880"/>
            <a:ext cx="3931920" cy="3017520"/>
          </a:xfrm>
          <a:prstGeom prst="roundRect">
            <a:avLst>
              <a:gd name="adj" fmla="val 3030"/>
            </a:avLst>
          </a:prstGeom>
          <a:solidFill>
            <a:schemeClr val="bg1"/>
          </a:solidFill>
          <a:ln w="12700">
            <a:solidFill>
              <a:srgbClr val="E3DED4"/>
            </a:solidFill>
            <a:prstDash val="solid"/>
          </a:ln>
        </p:spPr>
      </p:sp>
      <p:sp>
        <p:nvSpPr>
          <p:cNvPr id="8" name="Shape 6"/>
          <p:cNvSpPr/>
          <p:nvPr/>
        </p:nvSpPr>
        <p:spPr>
          <a:xfrm>
            <a:off x="685800" y="1325880"/>
            <a:ext cx="3657600" cy="64008"/>
          </a:xfrm>
          <a:prstGeom prst="rect">
            <a:avLst/>
          </a:prstGeom>
          <a:solidFill>
            <a:schemeClr val="accent3"/>
          </a:solidFill>
          <a:ln w="12700">
            <a:solidFill>
              <a:schemeClr val="accent3"/>
            </a:solidFill>
            <a:prstDash val="solid"/>
          </a:ln>
        </p:spPr>
      </p:sp>
      <p:sp>
        <p:nvSpPr>
          <p:cNvPr id="9" name="Text 7"/>
          <p:cNvSpPr txBox="1"/>
          <p:nvPr/>
        </p:nvSpPr>
        <p:spPr>
          <a:xfrm>
            <a:off x="731520" y="150876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Advantages</a:t>
            </a:r>
            <a:endParaRPr lang="en-US" sz="1600" dirty="0"/>
          </a:p>
        </p:txBody>
      </p:sp>
      <p:sp>
        <p:nvSpPr>
          <p:cNvPr id="10" name="Text 8"/>
          <p:cNvSpPr txBox="1"/>
          <p:nvPr/>
        </p:nvSpPr>
        <p:spPr>
          <a:xfrm>
            <a:off x="731520" y="1920240"/>
            <a:ext cx="3566160" cy="233172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 Very fast in practice, average O(n log n)</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Sorts in place: no extra array needed</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Works well with memory caches</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Basis of many library sorting routines</a:t>
            </a:r>
            <a:endParaRPr lang="en-US" sz="1300" dirty="0"/>
          </a:p>
        </p:txBody>
      </p:sp>
      <p:sp>
        <p:nvSpPr>
          <p:cNvPr id="11" name="Shape 9"/>
          <p:cNvSpPr/>
          <p:nvPr/>
        </p:nvSpPr>
        <p:spPr>
          <a:xfrm>
            <a:off x="4663440" y="1325880"/>
            <a:ext cx="3931920" cy="3017520"/>
          </a:xfrm>
          <a:prstGeom prst="roundRect">
            <a:avLst>
              <a:gd name="adj" fmla="val 3030"/>
            </a:avLst>
          </a:prstGeom>
          <a:solidFill>
            <a:schemeClr val="bg1"/>
          </a:solidFill>
          <a:ln w="12700">
            <a:solidFill>
              <a:srgbClr val="E3DED4"/>
            </a:solidFill>
            <a:prstDash val="solid"/>
          </a:ln>
        </p:spPr>
      </p:sp>
      <p:sp>
        <p:nvSpPr>
          <p:cNvPr id="12" name="Shape 10"/>
          <p:cNvSpPr/>
          <p:nvPr/>
        </p:nvSpPr>
        <p:spPr>
          <a:xfrm>
            <a:off x="4800600" y="1325880"/>
            <a:ext cx="3657600" cy="64008"/>
          </a:xfrm>
          <a:prstGeom prst="rect">
            <a:avLst/>
          </a:prstGeom>
          <a:solidFill>
            <a:schemeClr val="accent1"/>
          </a:solidFill>
          <a:ln w="12700">
            <a:solidFill>
              <a:schemeClr val="accent1"/>
            </a:solidFill>
            <a:prstDash val="solid"/>
          </a:ln>
        </p:spPr>
      </p:sp>
      <p:sp>
        <p:nvSpPr>
          <p:cNvPr id="13" name="Text 11"/>
          <p:cNvSpPr txBox="1"/>
          <p:nvPr/>
        </p:nvSpPr>
        <p:spPr>
          <a:xfrm>
            <a:off x="4846320" y="150876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Limitations</a:t>
            </a:r>
            <a:endParaRPr lang="en-US" sz="1600" dirty="0"/>
          </a:p>
        </p:txBody>
      </p:sp>
      <p:sp>
        <p:nvSpPr>
          <p:cNvPr id="14" name="Text 12"/>
          <p:cNvSpPr txBox="1"/>
          <p:nvPr/>
        </p:nvSpPr>
        <p:spPr>
          <a:xfrm>
            <a:off x="4846320" y="1920240"/>
            <a:ext cx="3566160" cy="233172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 Worst case O(n²) with bad pivots</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Not a stable sort</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Deep recursion in the worst case</a:t>
            </a:r>
            <a:endParaRPr lang="en-US" sz="1300" dirty="0"/>
          </a:p>
          <a:p>
            <a:pPr indent="0" marL="0">
              <a:spcAft>
                <a:spcPts val="600"/>
              </a:spcAft>
              <a:buNone/>
            </a:pPr>
            <a:endParaRPr lang="en-US" sz="1300" dirty="0"/>
          </a:p>
          <a:p>
            <a:pPr indent="0" marL="0">
              <a:spcAft>
                <a:spcPts val="600"/>
              </a:spcAft>
              <a:buNone/>
            </a:pPr>
            <a:r>
              <a:rPr lang="en-US" sz="1300" dirty="0">
                <a:solidFill>
                  <a:schemeClr val="tx2"/>
                </a:solidFill>
              </a:rPr>
              <a:t>• Speed depends on the pivot choice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71C"/>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rPr>
              <a:t>11. Quick Revision</a:t>
            </a:r>
            <a:endParaRPr lang="en-US" sz="2800" dirty="0"/>
          </a:p>
        </p:txBody>
      </p:sp>
      <p:sp>
        <p:nvSpPr>
          <p:cNvPr id="3" name="Text 1"/>
          <p:cNvSpPr txBox="1"/>
          <p:nvPr/>
        </p:nvSpPr>
        <p:spPr>
          <a:xfrm>
            <a:off x="548640" y="841248"/>
            <a:ext cx="7315200" cy="274320"/>
          </a:xfrm>
          <a:prstGeom prst="rect">
            <a:avLst/>
          </a:prstGeom>
          <a:noFill/>
          <a:ln/>
        </p:spPr>
        <p:txBody>
          <a:bodyPr wrap="square" lIns="0" tIns="0" rIns="0" bIns="0" rtlCol="0" anchor="ctr"/>
          <a:lstStyle/>
          <a:p>
            <a:pPr indent="0" marL="0">
              <a:buNone/>
            </a:pPr>
            <a:r>
              <a:rPr lang="en-US" sz="1400" dirty="0">
                <a:solidFill>
                  <a:srgbClr val="7FD3F2"/>
                </a:solidFill>
              </a:rPr>
              <a:t>Five points to remember</a:t>
            </a:r>
            <a:endParaRPr lang="en-US" sz="1400" dirty="0"/>
          </a:p>
        </p:txBody>
      </p:sp>
      <p:sp>
        <p:nvSpPr>
          <p:cNvPr id="4" name="Shape 2"/>
          <p:cNvSpPr/>
          <p:nvPr/>
        </p:nvSpPr>
        <p:spPr>
          <a:xfrm>
            <a:off x="822960" y="1371600"/>
            <a:ext cx="457200" cy="384048"/>
          </a:xfrm>
          <a:prstGeom prst="roundRect">
            <a:avLst>
              <a:gd name="adj" fmla="val 19048"/>
            </a:avLst>
          </a:prstGeom>
          <a:solidFill>
            <a:schemeClr val="accent1"/>
          </a:solidFill>
          <a:ln w="12700">
            <a:solidFill>
              <a:schemeClr val="accent1"/>
            </a:solidFill>
            <a:prstDash val="solid"/>
          </a:ln>
        </p:spPr>
      </p:sp>
      <p:sp>
        <p:nvSpPr>
          <p:cNvPr id="5" name="Text 3"/>
          <p:cNvSpPr txBox="1"/>
          <p:nvPr/>
        </p:nvSpPr>
        <p:spPr>
          <a:xfrm>
            <a:off x="822960" y="1371600"/>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6" name="Text 4"/>
          <p:cNvSpPr txBox="1"/>
          <p:nvPr/>
        </p:nvSpPr>
        <p:spPr>
          <a:xfrm>
            <a:off x="1554480" y="1371600"/>
            <a:ext cx="6858000" cy="384048"/>
          </a:xfrm>
          <a:prstGeom prst="rect">
            <a:avLst/>
          </a:prstGeom>
          <a:noFill/>
          <a:ln/>
        </p:spPr>
        <p:txBody>
          <a:bodyPr wrap="square" lIns="0" tIns="0" rIns="0" bIns="0" rtlCol="0" anchor="ctr"/>
          <a:lstStyle/>
          <a:p>
            <a:pPr indent="0" marL="0">
              <a:buNone/>
            </a:pPr>
            <a:r>
              <a:rPr lang="en-US" sz="1800" dirty="0">
                <a:solidFill>
                  <a:srgbClr val="E8ECF4"/>
                </a:solidFill>
              </a:rPr>
              <a:t>Quick Sort uses Divide and Conquer.</a:t>
            </a:r>
            <a:endParaRPr lang="en-US" sz="1800" dirty="0"/>
          </a:p>
        </p:txBody>
      </p:sp>
      <p:sp>
        <p:nvSpPr>
          <p:cNvPr id="7" name="Shape 5"/>
          <p:cNvSpPr/>
          <p:nvPr/>
        </p:nvSpPr>
        <p:spPr>
          <a:xfrm>
            <a:off x="822960" y="1901952"/>
            <a:ext cx="457200" cy="384048"/>
          </a:xfrm>
          <a:prstGeom prst="roundRect">
            <a:avLst>
              <a:gd name="adj" fmla="val 19048"/>
            </a:avLst>
          </a:prstGeom>
          <a:solidFill>
            <a:schemeClr val="accent1"/>
          </a:solidFill>
          <a:ln w="12700">
            <a:solidFill>
              <a:schemeClr val="accent1"/>
            </a:solidFill>
            <a:prstDash val="solid"/>
          </a:ln>
        </p:spPr>
      </p:sp>
      <p:sp>
        <p:nvSpPr>
          <p:cNvPr id="8" name="Text 6"/>
          <p:cNvSpPr txBox="1"/>
          <p:nvPr/>
        </p:nvSpPr>
        <p:spPr>
          <a:xfrm>
            <a:off x="822960" y="190195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9" name="Text 7"/>
          <p:cNvSpPr txBox="1"/>
          <p:nvPr/>
        </p:nvSpPr>
        <p:spPr>
          <a:xfrm>
            <a:off x="1554480" y="1901952"/>
            <a:ext cx="6858000" cy="384048"/>
          </a:xfrm>
          <a:prstGeom prst="rect">
            <a:avLst/>
          </a:prstGeom>
          <a:noFill/>
          <a:ln/>
        </p:spPr>
        <p:txBody>
          <a:bodyPr wrap="square" lIns="0" tIns="0" rIns="0" bIns="0" rtlCol="0" anchor="ctr"/>
          <a:lstStyle/>
          <a:p>
            <a:pPr indent="0" marL="0">
              <a:buNone/>
            </a:pPr>
            <a:r>
              <a:rPr lang="en-US" sz="1800" dirty="0">
                <a:solidFill>
                  <a:srgbClr val="E8ECF4"/>
                </a:solidFill>
              </a:rPr>
              <a:t>Partition places the pivot at its final position.</a:t>
            </a:r>
            <a:endParaRPr lang="en-US" sz="1800" dirty="0"/>
          </a:p>
        </p:txBody>
      </p:sp>
      <p:sp>
        <p:nvSpPr>
          <p:cNvPr id="10" name="Shape 8"/>
          <p:cNvSpPr/>
          <p:nvPr/>
        </p:nvSpPr>
        <p:spPr>
          <a:xfrm>
            <a:off x="822960" y="2432304"/>
            <a:ext cx="457200" cy="384048"/>
          </a:xfrm>
          <a:prstGeom prst="roundRect">
            <a:avLst>
              <a:gd name="adj" fmla="val 19048"/>
            </a:avLst>
          </a:prstGeom>
          <a:solidFill>
            <a:schemeClr val="accent1"/>
          </a:solidFill>
          <a:ln w="12700">
            <a:solidFill>
              <a:schemeClr val="accent1"/>
            </a:solidFill>
            <a:prstDash val="solid"/>
          </a:ln>
        </p:spPr>
      </p:sp>
      <p:sp>
        <p:nvSpPr>
          <p:cNvPr id="11" name="Text 9"/>
          <p:cNvSpPr txBox="1"/>
          <p:nvPr/>
        </p:nvSpPr>
        <p:spPr>
          <a:xfrm>
            <a:off x="822960" y="243230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12" name="Text 10"/>
          <p:cNvSpPr txBox="1"/>
          <p:nvPr/>
        </p:nvSpPr>
        <p:spPr>
          <a:xfrm>
            <a:off x="1554480" y="2432304"/>
            <a:ext cx="6858000" cy="384048"/>
          </a:xfrm>
          <a:prstGeom prst="rect">
            <a:avLst/>
          </a:prstGeom>
          <a:noFill/>
          <a:ln/>
        </p:spPr>
        <p:txBody>
          <a:bodyPr wrap="square" lIns="0" tIns="0" rIns="0" bIns="0" rtlCol="0" anchor="ctr"/>
          <a:lstStyle/>
          <a:p>
            <a:pPr indent="0" marL="0">
              <a:buNone/>
            </a:pPr>
            <a:r>
              <a:rPr lang="en-US" sz="1800" dirty="0">
                <a:solidFill>
                  <a:srgbClr val="E8ECF4"/>
                </a:solidFill>
              </a:rPr>
              <a:t>quickSort() calls itself on the left and right parts.</a:t>
            </a:r>
            <a:endParaRPr lang="en-US" sz="1800" dirty="0"/>
          </a:p>
        </p:txBody>
      </p:sp>
      <p:sp>
        <p:nvSpPr>
          <p:cNvPr id="13" name="Shape 11"/>
          <p:cNvSpPr/>
          <p:nvPr/>
        </p:nvSpPr>
        <p:spPr>
          <a:xfrm>
            <a:off x="822960" y="2962656"/>
            <a:ext cx="457200" cy="384048"/>
          </a:xfrm>
          <a:prstGeom prst="roundRect">
            <a:avLst>
              <a:gd name="adj" fmla="val 19048"/>
            </a:avLst>
          </a:prstGeom>
          <a:solidFill>
            <a:schemeClr val="accent1"/>
          </a:solidFill>
          <a:ln w="12700">
            <a:solidFill>
              <a:schemeClr val="accent1"/>
            </a:solidFill>
            <a:prstDash val="solid"/>
          </a:ln>
        </p:spPr>
      </p:sp>
      <p:sp>
        <p:nvSpPr>
          <p:cNvPr id="14" name="Text 12"/>
          <p:cNvSpPr txBox="1"/>
          <p:nvPr/>
        </p:nvSpPr>
        <p:spPr>
          <a:xfrm>
            <a:off x="822960" y="296265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15" name="Text 13"/>
          <p:cNvSpPr txBox="1"/>
          <p:nvPr/>
        </p:nvSpPr>
        <p:spPr>
          <a:xfrm>
            <a:off x="1554480" y="2962656"/>
            <a:ext cx="6858000" cy="384048"/>
          </a:xfrm>
          <a:prstGeom prst="rect">
            <a:avLst/>
          </a:prstGeom>
          <a:noFill/>
          <a:ln/>
        </p:spPr>
        <p:txBody>
          <a:bodyPr wrap="square" lIns="0" tIns="0" rIns="0" bIns="0" rtlCol="0" anchor="ctr"/>
          <a:lstStyle/>
          <a:p>
            <a:pPr indent="0" marL="0">
              <a:buNone/>
            </a:pPr>
            <a:r>
              <a:rPr lang="en-US" sz="1800" dirty="0">
                <a:solidFill>
                  <a:srgbClr val="E8ECF4"/>
                </a:solidFill>
              </a:rPr>
              <a:t>Time: average O(n log n), worst O(n²).</a:t>
            </a:r>
            <a:endParaRPr lang="en-US" sz="1800" dirty="0"/>
          </a:p>
        </p:txBody>
      </p:sp>
      <p:sp>
        <p:nvSpPr>
          <p:cNvPr id="16" name="Shape 14"/>
          <p:cNvSpPr/>
          <p:nvPr/>
        </p:nvSpPr>
        <p:spPr>
          <a:xfrm>
            <a:off x="822960" y="3493008"/>
            <a:ext cx="457200" cy="384048"/>
          </a:xfrm>
          <a:prstGeom prst="roundRect">
            <a:avLst>
              <a:gd name="adj" fmla="val 19048"/>
            </a:avLst>
          </a:prstGeom>
          <a:solidFill>
            <a:schemeClr val="accent1"/>
          </a:solidFill>
          <a:ln w="12700">
            <a:solidFill>
              <a:schemeClr val="accent1"/>
            </a:solidFill>
            <a:prstDash val="solid"/>
          </a:ln>
        </p:spPr>
      </p:sp>
      <p:sp>
        <p:nvSpPr>
          <p:cNvPr id="17" name="Text 15"/>
          <p:cNvSpPr txBox="1"/>
          <p:nvPr/>
        </p:nvSpPr>
        <p:spPr>
          <a:xfrm>
            <a:off x="822960" y="349300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rPr>
              <a:t>05</a:t>
            </a:r>
            <a:endParaRPr lang="en-US" sz="1400" dirty="0"/>
          </a:p>
        </p:txBody>
      </p:sp>
      <p:sp>
        <p:nvSpPr>
          <p:cNvPr id="18" name="Text 16"/>
          <p:cNvSpPr txBox="1"/>
          <p:nvPr/>
        </p:nvSpPr>
        <p:spPr>
          <a:xfrm>
            <a:off x="1554480" y="3493008"/>
            <a:ext cx="6858000" cy="384048"/>
          </a:xfrm>
          <a:prstGeom prst="rect">
            <a:avLst/>
          </a:prstGeom>
          <a:noFill/>
          <a:ln/>
        </p:spPr>
        <p:txBody>
          <a:bodyPr wrap="square" lIns="0" tIns="0" rIns="0" bIns="0" rtlCol="0" anchor="ctr"/>
          <a:lstStyle/>
          <a:p>
            <a:pPr indent="0" marL="0">
              <a:buNone/>
            </a:pPr>
            <a:r>
              <a:rPr lang="en-US" sz="1800" dirty="0">
                <a:solidFill>
                  <a:srgbClr val="E8ECF4"/>
                </a:solidFill>
              </a:rPr>
              <a:t>In-place, uses stack space only, and is not stable.</a:t>
            </a:r>
            <a:endParaRPr lang="en-US" sz="1800" dirty="0"/>
          </a:p>
        </p:txBody>
      </p:sp>
      <p:sp>
        <p:nvSpPr>
          <p:cNvPr id="19" name="Text 17"/>
          <p:cNvSpPr txBox="1"/>
          <p:nvPr/>
        </p:nvSpPr>
        <p:spPr>
          <a:xfrm>
            <a:off x="548640" y="4160520"/>
            <a:ext cx="8046720" cy="457200"/>
          </a:xfrm>
          <a:prstGeom prst="rect">
            <a:avLst/>
          </a:prstGeom>
          <a:noFill/>
          <a:ln/>
        </p:spPr>
        <p:txBody>
          <a:bodyPr wrap="square" lIns="0" tIns="0" rIns="0" bIns="0" rtlCol="0" anchor="ctr"/>
          <a:lstStyle/>
          <a:p>
            <a:pPr algn="ctr" indent="0" marL="0">
              <a:buNone/>
            </a:pPr>
            <a:r>
              <a:rPr lang="en-US" sz="2800" b="1" dirty="0">
                <a:solidFill>
                  <a:srgbClr val="FFB27A"/>
                </a:solidFill>
              </a:rPr>
              <a:t>Thank you!</a:t>
            </a:r>
            <a:endParaRPr lang="en-US" sz="2800" dirty="0"/>
          </a:p>
        </p:txBody>
      </p:sp>
    </p:spTree>
  </p:cSld>
  <p:clrMapOvr>
    <a:masterClrMapping/>
  </p:clrMapOvr>
</p:sld>
</file>

<file path=ppt/theme/theme1.xml><?xml version="1.0" encoding="utf-8"?>
<a:theme xmlns:a="http://schemas.openxmlformats.org/drawingml/2006/main" name="QuickSortDeck">
  <a:themeElements>
    <a:clrScheme name="QuickSortDeck">
      <a:dk1>
        <a:srgbClr val="15171C"/>
      </a:dk1>
      <a:lt1>
        <a:srgbClr val="FFFFFF"/>
      </a:lt1>
      <a:dk2>
        <a:srgbClr val="2B2F3A"/>
      </a:dk2>
      <a:lt2>
        <a:srgbClr val="FAF7F2"/>
      </a:lt2>
      <a:accent1>
        <a:srgbClr val="FF8A3D"/>
      </a:accent1>
      <a:accent2>
        <a:srgbClr val="2AA7D6"/>
      </a:accent2>
      <a:accent3>
        <a:srgbClr val="4CAF72"/>
      </a:accent3>
      <a:accent4>
        <a:srgbClr val="F2B134"/>
      </a:accent4>
      <a:accent5>
        <a:srgbClr val="8E7DBE"/>
      </a:accent5>
      <a:accent6>
        <a:srgbClr val="6B7280"/>
      </a:accent6>
      <a:hlink>
        <a:srgbClr val="2AA7D6"/>
      </a:hlink>
      <a:folHlink>
        <a:srgbClr val="8E7DBE"/>
      </a:folHlink>
    </a:clrScheme>
    <a:fontScheme name="QuickSortD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2026-10-20T13:16:10Z</dcterms:created>
  <dcterms:modified xsi:type="dcterms:W3CDTF">2026-10-20T13:16:10Z</dcterms:modified>
</cp:coreProperties>
</file>